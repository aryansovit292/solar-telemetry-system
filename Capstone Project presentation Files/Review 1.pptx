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Consolas" panose="020B0609020204030204" pitchFamily="49" charset="0"/>
      <p:regular r:id="rId11"/>
      <p:bold r:id="rId12"/>
      <p:italic r:id="rId13"/>
      <p:boldItalic r:id="rId14"/>
    </p:embeddedFont>
    <p:embeddedFont>
      <p:font typeface="Lora" pitchFamily="2" charset="0"/>
      <p:regular r:id="rId15"/>
    </p:embeddedFont>
    <p:embeddedFont>
      <p:font typeface="Source Sans 3" panose="020B0604020202020204" charset="0"/>
      <p:regular r:id="rId16"/>
    </p:embeddedFont>
    <p:embeddedFont>
      <p:font typeface="Source Sans 3 Bold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2018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252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12" Type="http://schemas.openxmlformats.org/officeDocument/2006/relationships/image" Target="../media/image1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11" Type="http://schemas.openxmlformats.org/officeDocument/2006/relationships/image" Target="../media/image17.jpeg"/><Relationship Id="rId5" Type="http://schemas.openxmlformats.org/officeDocument/2006/relationships/image" Target="../media/image11.svg"/><Relationship Id="rId10" Type="http://schemas.openxmlformats.org/officeDocument/2006/relationships/image" Target="../media/image16.pn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e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sv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67248"/>
            <a:ext cx="10795524" cy="89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Real-Time Micro-Climate </a:t>
            </a:r>
            <a:r>
              <a:rPr lang="en-US" sz="28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Solar Telemetry &amp; AI Forecasting System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98086" y="1714897"/>
            <a:ext cx="1949997" cy="231874"/>
          </a:xfrm>
          <a:prstGeom prst="roundRect">
            <a:avLst>
              <a:gd name="adj" fmla="val 7904"/>
            </a:avLst>
          </a:prstGeom>
          <a:noFill/>
          <a:ln w="6350">
            <a:solidFill>
              <a:srgbClr val="F98AC7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662" y="1769765"/>
            <a:ext cx="122135" cy="1221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2816" y="1763609"/>
            <a:ext cx="2193275" cy="14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REVIEW 1 — WEEK 5 PROGRESS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98086" y="2097088"/>
            <a:ext cx="10795524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 end-to-end telemetry and deep learning platform built by a three-person engineering team, streaming live micro-climate data, predicting solar wattage output via LSTM, and surfacing automated thermal stress alerts through a live React dashboard.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98086" y="2846295"/>
            <a:ext cx="5211533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Project Team &amp; Roles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98086" y="3213795"/>
            <a:ext cx="2538944" cy="1121470"/>
          </a:xfrm>
          <a:prstGeom prst="roundRect">
            <a:avLst>
              <a:gd name="adj" fmla="val 2043"/>
            </a:avLst>
          </a:prstGeom>
          <a:solidFill>
            <a:srgbClr val="444752"/>
          </a:solidFill>
          <a:ln/>
        </p:spPr>
      </p:sp>
      <p:sp>
        <p:nvSpPr>
          <p:cNvPr id="9" name="Text 6"/>
          <p:cNvSpPr/>
          <p:nvPr/>
        </p:nvSpPr>
        <p:spPr>
          <a:xfrm>
            <a:off x="850779" y="3366492"/>
            <a:ext cx="2233557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Mohammed Faiz CK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50779" y="3724573"/>
            <a:ext cx="2233557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Full-Stack Developer &amp; System Integrator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70575" y="3213795"/>
            <a:ext cx="2539044" cy="1121470"/>
          </a:xfrm>
          <a:prstGeom prst="roundRect">
            <a:avLst>
              <a:gd name="adj" fmla="val 2043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2" name="Text 9"/>
          <p:cNvSpPr/>
          <p:nvPr/>
        </p:nvSpPr>
        <p:spPr>
          <a:xfrm>
            <a:off x="3523269" y="3366492"/>
            <a:ext cx="2233656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Aryan Sovit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523269" y="3724573"/>
            <a:ext cx="2233656" cy="228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AI/ML &amp; Data Pipelines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98086" y="4468813"/>
            <a:ext cx="5211533" cy="892473"/>
          </a:xfrm>
          <a:prstGeom prst="roundRect">
            <a:avLst>
              <a:gd name="adj" fmla="val 2567"/>
            </a:avLst>
          </a:prstGeom>
          <a:solidFill>
            <a:srgbClr val="444752"/>
          </a:solidFill>
          <a:ln/>
        </p:spPr>
      </p:sp>
      <p:sp>
        <p:nvSpPr>
          <p:cNvPr id="15" name="Text 12"/>
          <p:cNvSpPr/>
          <p:nvPr/>
        </p:nvSpPr>
        <p:spPr>
          <a:xfrm>
            <a:off x="850779" y="4621510"/>
            <a:ext cx="4906145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Yashwanth Chandawat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50779" y="4979591"/>
            <a:ext cx="4906145" cy="228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Analytics &amp; Testing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288426" y="2846295"/>
            <a:ext cx="5211533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Tech Stack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288426" y="3213795"/>
            <a:ext cx="2538944" cy="892473"/>
          </a:xfrm>
          <a:prstGeom prst="roundRect">
            <a:avLst>
              <a:gd name="adj" fmla="val 2567"/>
            </a:avLst>
          </a:prstGeom>
          <a:solidFill>
            <a:srgbClr val="444752"/>
          </a:solidFill>
          <a:ln/>
        </p:spPr>
      </p:sp>
      <p:sp>
        <p:nvSpPr>
          <p:cNvPr id="19" name="Text 16"/>
          <p:cNvSpPr/>
          <p:nvPr/>
        </p:nvSpPr>
        <p:spPr>
          <a:xfrm>
            <a:off x="6441120" y="3366492"/>
            <a:ext cx="2233557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Frontend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41120" y="3724573"/>
            <a:ext cx="2233557" cy="228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React.js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960916" y="3213795"/>
            <a:ext cx="2539044" cy="892473"/>
          </a:xfrm>
          <a:prstGeom prst="roundRect">
            <a:avLst>
              <a:gd name="adj" fmla="val 2567"/>
            </a:avLst>
          </a:prstGeom>
          <a:solidFill>
            <a:srgbClr val="444752"/>
          </a:solidFill>
          <a:ln/>
        </p:spPr>
      </p:sp>
      <p:sp>
        <p:nvSpPr>
          <p:cNvPr id="22" name="Text 19"/>
          <p:cNvSpPr/>
          <p:nvPr/>
        </p:nvSpPr>
        <p:spPr>
          <a:xfrm>
            <a:off x="9113610" y="3366492"/>
            <a:ext cx="2233656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Backend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113610" y="3724573"/>
            <a:ext cx="2233656" cy="228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Express.js / Node.js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288426" y="4239816"/>
            <a:ext cx="2538944" cy="892473"/>
          </a:xfrm>
          <a:prstGeom prst="roundRect">
            <a:avLst>
              <a:gd name="adj" fmla="val 2567"/>
            </a:avLst>
          </a:prstGeom>
          <a:solidFill>
            <a:srgbClr val="444752"/>
          </a:solidFill>
          <a:ln/>
        </p:spPr>
      </p:sp>
      <p:sp>
        <p:nvSpPr>
          <p:cNvPr id="25" name="Text 22"/>
          <p:cNvSpPr/>
          <p:nvPr/>
        </p:nvSpPr>
        <p:spPr>
          <a:xfrm>
            <a:off x="6441120" y="4392513"/>
            <a:ext cx="2233557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Database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441120" y="4750594"/>
            <a:ext cx="2233557" cy="228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MongoDB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960916" y="4239816"/>
            <a:ext cx="2539044" cy="892473"/>
          </a:xfrm>
          <a:prstGeom prst="roundRect">
            <a:avLst>
              <a:gd name="adj" fmla="val 2567"/>
            </a:avLst>
          </a:prstGeom>
          <a:solidFill>
            <a:srgbClr val="444752"/>
          </a:solidFill>
          <a:ln/>
        </p:spPr>
      </p:sp>
      <p:sp>
        <p:nvSpPr>
          <p:cNvPr id="28" name="Text 25"/>
          <p:cNvSpPr/>
          <p:nvPr/>
        </p:nvSpPr>
        <p:spPr>
          <a:xfrm>
            <a:off x="9113610" y="4392513"/>
            <a:ext cx="2233656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/ ML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9113610" y="4750594"/>
            <a:ext cx="2233656" cy="228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Python — TensorFlow / Keras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288426" y="5265837"/>
            <a:ext cx="5211533" cy="892473"/>
          </a:xfrm>
          <a:prstGeom prst="roundRect">
            <a:avLst>
              <a:gd name="adj" fmla="val 2567"/>
            </a:avLst>
          </a:prstGeom>
          <a:solidFill>
            <a:srgbClr val="444752"/>
          </a:solidFill>
          <a:ln/>
        </p:spPr>
      </p:sp>
      <p:sp>
        <p:nvSpPr>
          <p:cNvPr id="31" name="Text 28"/>
          <p:cNvSpPr/>
          <p:nvPr/>
        </p:nvSpPr>
        <p:spPr>
          <a:xfrm>
            <a:off x="6441120" y="5418534"/>
            <a:ext cx="4906145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Source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6441120" y="5776615"/>
            <a:ext cx="4906145" cy="228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Open-Meteo API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12032"/>
            <a:ext cx="10795524" cy="473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Problem: Solar Output Volatility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98086" y="1445394"/>
            <a:ext cx="5201512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Why Existing Systems Fall Short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1838127"/>
            <a:ext cx="5201512" cy="12394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4163" y="2018010"/>
            <a:ext cx="4765556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Rapid Micro-Climate Fluctuation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954163" y="2402979"/>
            <a:ext cx="4765556" cy="494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Solar output fluctuates rapidly due to localised micro-climates and sudden temperature spikes that coarse regional models fail to capture.</a:t>
            </a:r>
            <a:endParaRPr lang="en-US" sz="1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3225899"/>
            <a:ext cx="5201512" cy="123944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54163" y="3405783"/>
            <a:ext cx="4765556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Reactive Monitoring Paradigm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954163" y="3790752"/>
            <a:ext cx="4765556" cy="494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Traditional monitoring systems are inherently reactive — they report degradation </a:t>
            </a:r>
            <a:r>
              <a:rPr lang="en-US" sz="1250" i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after</a:t>
            </a: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it occurs, missing sudden irradiance drops entirely.</a:t>
            </a:r>
            <a:endParaRPr lang="en-US" sz="12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4613672"/>
            <a:ext cx="5201512" cy="148679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54163" y="4793555"/>
            <a:ext cx="4765556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 Thermal Stress Visibility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954163" y="5178524"/>
            <a:ext cx="4765556" cy="742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Operators lack real-time visibility into thermal stress and performance degradation, leaving panels exposed to derating risk without automated alerts.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6298447" y="1445394"/>
            <a:ext cx="5201512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Our Solution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6298447" y="1819672"/>
            <a:ext cx="5201512" cy="742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 end-to-end IoT Telemetry platform streaming live weather metrics, predicting wattage output via deep learning (LSTM), and triggering real-time thermal alerts.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6539741" y="2861965"/>
            <a:ext cx="4960218" cy="742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Key Value Proposition:</a:t>
            </a: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Proactive solar forecasting combined with automated thermal stress detection — shifting operators from reactive damage control to predictive performance management.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298447" y="2728516"/>
            <a:ext cx="19050" cy="1008955"/>
          </a:xfrm>
          <a:prstGeom prst="roundRect">
            <a:avLst>
              <a:gd name="adj" fmla="val 49999"/>
            </a:avLst>
          </a:prstGeom>
          <a:solidFill>
            <a:srgbClr val="F98AC7"/>
          </a:solidFill>
          <a:ln/>
        </p:spPr>
      </p:sp>
      <p:sp>
        <p:nvSpPr>
          <p:cNvPr id="17" name="Shape 12"/>
          <p:cNvSpPr/>
          <p:nvPr/>
        </p:nvSpPr>
        <p:spPr>
          <a:xfrm>
            <a:off x="6298447" y="3904258"/>
            <a:ext cx="2526542" cy="953988"/>
          </a:xfrm>
          <a:prstGeom prst="roundRect">
            <a:avLst>
              <a:gd name="adj" fmla="val 2530"/>
            </a:avLst>
          </a:prstGeom>
          <a:solidFill>
            <a:srgbClr val="444752"/>
          </a:solidFill>
          <a:ln/>
        </p:spPr>
      </p:sp>
      <p:sp>
        <p:nvSpPr>
          <p:cNvPr id="18" name="Text 13"/>
          <p:cNvSpPr/>
          <p:nvPr/>
        </p:nvSpPr>
        <p:spPr>
          <a:xfrm>
            <a:off x="6459277" y="4065091"/>
            <a:ext cx="2204883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D9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Live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59277" y="4450060"/>
            <a:ext cx="2204883" cy="247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telemetry streaming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973318" y="3904258"/>
            <a:ext cx="2526641" cy="953988"/>
          </a:xfrm>
          <a:prstGeom prst="roundRect">
            <a:avLst>
              <a:gd name="adj" fmla="val 2530"/>
            </a:avLst>
          </a:prstGeom>
          <a:solidFill>
            <a:srgbClr val="444752"/>
          </a:solidFill>
          <a:ln/>
        </p:spPr>
      </p:sp>
      <p:sp>
        <p:nvSpPr>
          <p:cNvPr id="21" name="Text 16"/>
          <p:cNvSpPr/>
          <p:nvPr/>
        </p:nvSpPr>
        <p:spPr>
          <a:xfrm>
            <a:off x="9134147" y="4065091"/>
            <a:ext cx="2204982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FF4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Predict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9134147" y="4450060"/>
            <a:ext cx="2204982" cy="247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LSTM wattage forecasting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298447" y="5006578"/>
            <a:ext cx="5201512" cy="953988"/>
          </a:xfrm>
          <a:prstGeom prst="roundRect">
            <a:avLst>
              <a:gd name="adj" fmla="val 2530"/>
            </a:avLst>
          </a:prstGeom>
          <a:solidFill>
            <a:srgbClr val="444752"/>
          </a:solidFill>
          <a:ln/>
        </p:spPr>
      </p:sp>
      <p:sp>
        <p:nvSpPr>
          <p:cNvPr id="24" name="Text 19"/>
          <p:cNvSpPr/>
          <p:nvPr/>
        </p:nvSpPr>
        <p:spPr>
          <a:xfrm>
            <a:off x="6459277" y="5167412"/>
            <a:ext cx="4879853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F149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Alert</a:t>
            </a:r>
            <a:endParaRPr lang="en-US" sz="1450" dirty="0"/>
          </a:p>
        </p:txBody>
      </p:sp>
      <p:sp>
        <p:nvSpPr>
          <p:cNvPr id="25" name="Text 20"/>
          <p:cNvSpPr/>
          <p:nvPr/>
        </p:nvSpPr>
        <p:spPr>
          <a:xfrm>
            <a:off x="6459277" y="5552380"/>
            <a:ext cx="4879853" cy="247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Automated thermal advisories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18793"/>
            <a:ext cx="10795524" cy="425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Development Timeline &amp; Key Milestones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698086" y="1165721"/>
            <a:ext cx="753448" cy="219571"/>
          </a:xfrm>
          <a:prstGeom prst="roundRect">
            <a:avLst>
              <a:gd name="adj" fmla="val 7900"/>
            </a:avLst>
          </a:prstGeom>
          <a:solidFill>
            <a:srgbClr val="49042A"/>
          </a:solidFill>
          <a:ln/>
        </p:spPr>
      </p:sp>
      <p:sp>
        <p:nvSpPr>
          <p:cNvPr id="4" name="Text 2"/>
          <p:cNvSpPr/>
          <p:nvPr/>
        </p:nvSpPr>
        <p:spPr>
          <a:xfrm>
            <a:off x="784801" y="1213934"/>
            <a:ext cx="1189603" cy="132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WEEKS 1 – 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086323" y="1519932"/>
            <a:ext cx="19050" cy="4191198"/>
          </a:xfrm>
          <a:prstGeom prst="roundRect">
            <a:avLst>
              <a:gd name="adj" fmla="val 49999"/>
            </a:avLst>
          </a:prstGeom>
          <a:solidFill>
            <a:srgbClr val="5D606B"/>
          </a:solidFill>
          <a:ln/>
        </p:spPr>
      </p:sp>
      <p:sp>
        <p:nvSpPr>
          <p:cNvPr id="6" name="Shape 4"/>
          <p:cNvSpPr/>
          <p:nvPr/>
        </p:nvSpPr>
        <p:spPr>
          <a:xfrm>
            <a:off x="5518756" y="1672927"/>
            <a:ext cx="433575" cy="19050"/>
          </a:xfrm>
          <a:prstGeom prst="roundRect">
            <a:avLst>
              <a:gd name="adj" fmla="val 49999"/>
            </a:avLst>
          </a:prstGeom>
          <a:solidFill>
            <a:srgbClr val="5D606B"/>
          </a:solidFill>
          <a:ln/>
        </p:spPr>
      </p:sp>
      <p:sp>
        <p:nvSpPr>
          <p:cNvPr id="7" name="Shape 5"/>
          <p:cNvSpPr/>
          <p:nvPr/>
        </p:nvSpPr>
        <p:spPr>
          <a:xfrm>
            <a:off x="5933282" y="1519932"/>
            <a:ext cx="325132" cy="325140"/>
          </a:xfrm>
          <a:prstGeom prst="roundRect">
            <a:avLst>
              <a:gd name="adj" fmla="val 6669"/>
            </a:avLst>
          </a:prstGeom>
          <a:solidFill>
            <a:srgbClr val="444752"/>
          </a:solidFill>
          <a:ln/>
        </p:spPr>
      </p:sp>
      <p:sp>
        <p:nvSpPr>
          <p:cNvPr id="8" name="Text 6"/>
          <p:cNvSpPr/>
          <p:nvPr/>
        </p:nvSpPr>
        <p:spPr>
          <a:xfrm>
            <a:off x="5993804" y="1554956"/>
            <a:ext cx="203989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8086" y="1569541"/>
            <a:ext cx="4675071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Week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8086" y="1853803"/>
            <a:ext cx="4675071" cy="63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2000"/>
              </a:lnSpc>
              <a:buNone/>
            </a:pPr>
            <a:r>
              <a:rPr lang="en-US" sz="11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Foundation</a:t>
            </a:r>
            <a:endParaRPr lang="en-US" sz="1100" dirty="0"/>
          </a:p>
          <a:p>
            <a:pPr marL="0" indent="0" algn="r">
              <a:lnSpc>
                <a:spcPct val="122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Requirements gathering, tech stack finalization, MongoDB schema design and environment configuration.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39364" y="2490391"/>
            <a:ext cx="433575" cy="19050"/>
          </a:xfrm>
          <a:prstGeom prst="roundRect">
            <a:avLst>
              <a:gd name="adj" fmla="val 49999"/>
            </a:avLst>
          </a:prstGeom>
          <a:solidFill>
            <a:srgbClr val="5D606B"/>
          </a:solidFill>
          <a:ln/>
        </p:spPr>
      </p:sp>
      <p:sp>
        <p:nvSpPr>
          <p:cNvPr id="12" name="Shape 10"/>
          <p:cNvSpPr/>
          <p:nvPr/>
        </p:nvSpPr>
        <p:spPr>
          <a:xfrm>
            <a:off x="5933282" y="2337395"/>
            <a:ext cx="325132" cy="325140"/>
          </a:xfrm>
          <a:prstGeom prst="roundRect">
            <a:avLst>
              <a:gd name="adj" fmla="val 6669"/>
            </a:avLst>
          </a:prstGeom>
          <a:solidFill>
            <a:srgbClr val="444752"/>
          </a:solidFill>
          <a:ln/>
        </p:spPr>
      </p:sp>
      <p:sp>
        <p:nvSpPr>
          <p:cNvPr id="13" name="Text 11"/>
          <p:cNvSpPr/>
          <p:nvPr/>
        </p:nvSpPr>
        <p:spPr>
          <a:xfrm>
            <a:off x="5993804" y="2372420"/>
            <a:ext cx="203989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18539" y="2387005"/>
            <a:ext cx="4675071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Week 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18539" y="2671266"/>
            <a:ext cx="4675071" cy="646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1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Telemetry Pipeline</a:t>
            </a:r>
            <a:endParaRPr lang="en-US" sz="11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Ingestion script </a:t>
            </a:r>
            <a:r>
              <a:rPr lang="en-US" sz="110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mock_telemetry.py</a:t>
            </a: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built; Open-Meteo API weather integration operational.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18756" y="3213001"/>
            <a:ext cx="433575" cy="19050"/>
          </a:xfrm>
          <a:prstGeom prst="roundRect">
            <a:avLst>
              <a:gd name="adj" fmla="val 49999"/>
            </a:avLst>
          </a:prstGeom>
          <a:solidFill>
            <a:srgbClr val="5D606B"/>
          </a:solidFill>
          <a:ln/>
        </p:spPr>
      </p:sp>
      <p:sp>
        <p:nvSpPr>
          <p:cNvPr id="17" name="Shape 15"/>
          <p:cNvSpPr/>
          <p:nvPr/>
        </p:nvSpPr>
        <p:spPr>
          <a:xfrm>
            <a:off x="5933282" y="3060005"/>
            <a:ext cx="325132" cy="325140"/>
          </a:xfrm>
          <a:prstGeom prst="roundRect">
            <a:avLst>
              <a:gd name="adj" fmla="val 6669"/>
            </a:avLst>
          </a:prstGeom>
          <a:solidFill>
            <a:srgbClr val="444752"/>
          </a:solidFill>
          <a:ln/>
        </p:spPr>
      </p:sp>
      <p:sp>
        <p:nvSpPr>
          <p:cNvPr id="18" name="Text 16"/>
          <p:cNvSpPr/>
          <p:nvPr/>
        </p:nvSpPr>
        <p:spPr>
          <a:xfrm>
            <a:off x="5993804" y="3095030"/>
            <a:ext cx="203989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8086" y="3109615"/>
            <a:ext cx="4675071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Week 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8086" y="3393877"/>
            <a:ext cx="4675071" cy="63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2000"/>
              </a:lnSpc>
              <a:buNone/>
            </a:pPr>
            <a:r>
              <a:rPr lang="en-US" sz="11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Deep Learning Model</a:t>
            </a:r>
            <a:endParaRPr lang="en-US" sz="1100" dirty="0"/>
          </a:p>
          <a:p>
            <a:pPr marL="0" indent="0" algn="r">
              <a:lnSpc>
                <a:spcPct val="122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LSTM Sequence Model architecture defined for </a:t>
            </a:r>
            <a:r>
              <a:rPr lang="en-US" sz="11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60-step</a:t>
            </a: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solar wattage prediction. Training pipeline established.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39364" y="3935611"/>
            <a:ext cx="433575" cy="19050"/>
          </a:xfrm>
          <a:prstGeom prst="roundRect">
            <a:avLst>
              <a:gd name="adj" fmla="val 49999"/>
            </a:avLst>
          </a:prstGeom>
          <a:solidFill>
            <a:srgbClr val="5D606B"/>
          </a:solidFill>
          <a:ln/>
        </p:spPr>
      </p:sp>
      <p:sp>
        <p:nvSpPr>
          <p:cNvPr id="22" name="Shape 20"/>
          <p:cNvSpPr/>
          <p:nvPr/>
        </p:nvSpPr>
        <p:spPr>
          <a:xfrm>
            <a:off x="5933282" y="3782616"/>
            <a:ext cx="325132" cy="325140"/>
          </a:xfrm>
          <a:prstGeom prst="roundRect">
            <a:avLst>
              <a:gd name="adj" fmla="val 6669"/>
            </a:avLst>
          </a:prstGeom>
          <a:solidFill>
            <a:srgbClr val="444752"/>
          </a:solidFill>
          <a:ln/>
        </p:spPr>
      </p:sp>
      <p:sp>
        <p:nvSpPr>
          <p:cNvPr id="23" name="Text 21"/>
          <p:cNvSpPr/>
          <p:nvPr/>
        </p:nvSpPr>
        <p:spPr>
          <a:xfrm>
            <a:off x="5993804" y="3817640"/>
            <a:ext cx="203989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18539" y="3832225"/>
            <a:ext cx="4675071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Week 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18539" y="4116487"/>
            <a:ext cx="4675071" cy="646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1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Backend &amp; APIs</a:t>
            </a:r>
            <a:endParaRPr lang="en-US" sz="11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Node.js/Express child-process execution links Python TensorFlow scripts directly to REST endpoints </a:t>
            </a:r>
            <a:r>
              <a:rPr lang="en-US" sz="110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/recent</a:t>
            </a: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</a:t>
            </a:r>
            <a:r>
              <a:rPr lang="en-US" sz="110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/predict</a:t>
            </a: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518756" y="4658221"/>
            <a:ext cx="433575" cy="19050"/>
          </a:xfrm>
          <a:prstGeom prst="roundRect">
            <a:avLst>
              <a:gd name="adj" fmla="val 49999"/>
            </a:avLst>
          </a:prstGeom>
          <a:solidFill>
            <a:srgbClr val="5D606B"/>
          </a:solidFill>
          <a:ln/>
        </p:spPr>
      </p:sp>
      <p:sp>
        <p:nvSpPr>
          <p:cNvPr id="27" name="Shape 25"/>
          <p:cNvSpPr/>
          <p:nvPr/>
        </p:nvSpPr>
        <p:spPr>
          <a:xfrm>
            <a:off x="5933282" y="4505226"/>
            <a:ext cx="325132" cy="325140"/>
          </a:xfrm>
          <a:prstGeom prst="roundRect">
            <a:avLst>
              <a:gd name="adj" fmla="val 6669"/>
            </a:avLst>
          </a:prstGeom>
          <a:solidFill>
            <a:srgbClr val="444752"/>
          </a:solidFill>
          <a:ln/>
        </p:spPr>
      </p:sp>
      <p:sp>
        <p:nvSpPr>
          <p:cNvPr id="28" name="Text 26"/>
          <p:cNvSpPr/>
          <p:nvPr/>
        </p:nvSpPr>
        <p:spPr>
          <a:xfrm>
            <a:off x="5993804" y="4540250"/>
            <a:ext cx="203989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8086" y="4554835"/>
            <a:ext cx="4675071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Week 5 ✦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8086" y="4839097"/>
            <a:ext cx="4675071" cy="63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2000"/>
              </a:lnSpc>
              <a:buNone/>
            </a:pPr>
            <a:r>
              <a:rPr lang="en-US" sz="11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Full-Stack UI</a:t>
            </a:r>
            <a:endParaRPr lang="en-US" sz="1100" dirty="0"/>
          </a:p>
          <a:p>
            <a:pPr marL="0" indent="0" algn="r">
              <a:lnSpc>
                <a:spcPct val="122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Live Recharts visualization, Thermal Advisory Banners, and Anomaly Injection Testing all integrated and operational.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98086" y="5845770"/>
            <a:ext cx="10795524" cy="510877"/>
          </a:xfrm>
          <a:prstGeom prst="roundRect">
            <a:avLst>
              <a:gd name="adj" fmla="val 4244"/>
            </a:avLst>
          </a:prstGeom>
          <a:solidFill>
            <a:srgbClr val="790645"/>
          </a:solidFill>
          <a:ln/>
        </p:spPr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45" y="6014839"/>
            <a:ext cx="180673" cy="144463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1167676" y="6001544"/>
            <a:ext cx="10791059" cy="211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Week 5 marks the first fully integrated end-to-end system run — from sensor ingestion through LSTM inference to live dashboard rendering.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491949"/>
            <a:ext cx="10795524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System Architecture: 5-Step Data Pipeline</a:t>
            </a:r>
            <a:endParaRPr lang="en-US" sz="1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7572" y="296017"/>
            <a:ext cx="8143632" cy="44501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35233" y="2378285"/>
            <a:ext cx="2231608" cy="285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Ingestion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670372" y="2374008"/>
            <a:ext cx="2231607" cy="285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Storage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270523" y="2367933"/>
            <a:ext cx="2231607" cy="285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Processing</a:t>
            </a:r>
            <a:endParaRPr lang="en-US" sz="1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3978" y="4300503"/>
            <a:ext cx="2623873" cy="8367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3528" y="4365888"/>
            <a:ext cx="104673" cy="130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393888" y="4649554"/>
            <a:ext cx="2424052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Ingestion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393888" y="4821401"/>
            <a:ext cx="242405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mock_telemetry.py</a:t>
            </a:r>
            <a:r>
              <a:rPr lang="en-US" sz="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fetches local weather data via Open-Meteo API</a:t>
            </a:r>
            <a:endParaRPr lang="en-US" sz="6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61407" y="4300503"/>
            <a:ext cx="2623873" cy="83671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220958" y="4365888"/>
            <a:ext cx="104673" cy="130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3061318" y="4649554"/>
            <a:ext cx="2424052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Storage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3061318" y="4821401"/>
            <a:ext cx="242405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MongoDB stores time-series telemetry streams with indexed timestamps</a:t>
            </a:r>
            <a:endParaRPr lang="en-US" sz="6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5755" y="5192210"/>
            <a:ext cx="5291303" cy="72558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908970" y="5257595"/>
            <a:ext cx="104673" cy="130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Text 11"/>
          <p:cNvSpPr/>
          <p:nvPr/>
        </p:nvSpPr>
        <p:spPr>
          <a:xfrm>
            <a:off x="415665" y="5541261"/>
            <a:ext cx="5091481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Backend Engine</a:t>
            </a:r>
            <a:endParaRPr lang="en-US" sz="800" dirty="0"/>
          </a:p>
        </p:txBody>
      </p:sp>
      <p:sp>
        <p:nvSpPr>
          <p:cNvPr id="18" name="Text 12"/>
          <p:cNvSpPr/>
          <p:nvPr/>
        </p:nvSpPr>
        <p:spPr>
          <a:xfrm>
            <a:off x="415665" y="5713108"/>
            <a:ext cx="509148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Node.js/Express server spawns Python child processes for model execution</a:t>
            </a:r>
            <a:endParaRPr lang="en-US" sz="6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8656" y="4866087"/>
            <a:ext cx="2623873" cy="83671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468207" y="4931472"/>
            <a:ext cx="104673" cy="130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800" dirty="0"/>
          </a:p>
        </p:txBody>
      </p:sp>
      <p:sp>
        <p:nvSpPr>
          <p:cNvPr id="21" name="Text 14"/>
          <p:cNvSpPr/>
          <p:nvPr/>
        </p:nvSpPr>
        <p:spPr>
          <a:xfrm>
            <a:off x="6308567" y="5215138"/>
            <a:ext cx="2424052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Processing</a:t>
            </a:r>
            <a:endParaRPr lang="en-US" sz="800" dirty="0"/>
          </a:p>
        </p:txBody>
      </p:sp>
      <p:sp>
        <p:nvSpPr>
          <p:cNvPr id="22" name="Text 15"/>
          <p:cNvSpPr/>
          <p:nvPr/>
        </p:nvSpPr>
        <p:spPr>
          <a:xfrm>
            <a:off x="6308567" y="5386985"/>
            <a:ext cx="242405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predict.py</a:t>
            </a:r>
            <a:r>
              <a:rPr lang="en-US" sz="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passes a </a:t>
            </a:r>
            <a:r>
              <a:rPr lang="en-US" sz="6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60-step sequence</a:t>
            </a:r>
            <a:r>
              <a:rPr lang="en-US" sz="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the LSTM neural network for wattage inference</a:t>
            </a:r>
            <a:endParaRPr lang="en-US" sz="65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32440" y="4866087"/>
            <a:ext cx="2623873" cy="83671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0135636" y="4931472"/>
            <a:ext cx="104673" cy="130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800" dirty="0"/>
          </a:p>
        </p:txBody>
      </p:sp>
      <p:sp>
        <p:nvSpPr>
          <p:cNvPr id="25" name="Text 17"/>
          <p:cNvSpPr/>
          <p:nvPr/>
        </p:nvSpPr>
        <p:spPr>
          <a:xfrm>
            <a:off x="8975997" y="5215138"/>
            <a:ext cx="2424052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UI Presentation</a:t>
            </a:r>
            <a:endParaRPr lang="en-US" sz="800" dirty="0"/>
          </a:p>
        </p:txBody>
      </p:sp>
      <p:sp>
        <p:nvSpPr>
          <p:cNvPr id="26" name="Text 18"/>
          <p:cNvSpPr/>
          <p:nvPr/>
        </p:nvSpPr>
        <p:spPr>
          <a:xfrm>
            <a:off x="8975997" y="5386985"/>
            <a:ext cx="242405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React dashboard auto-polls every </a:t>
            </a:r>
            <a:r>
              <a:rPr lang="en-US" sz="6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5 seconds</a:t>
            </a:r>
            <a:r>
              <a:rPr lang="en-US" sz="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continuous Recharts updates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42090"/>
            <a:ext cx="10795524" cy="280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Live Dashboard Overview</a:t>
            </a:r>
            <a:endParaRPr lang="en-US" sz="1750" dirty="0"/>
          </a:p>
        </p:txBody>
      </p:sp>
      <p:sp>
        <p:nvSpPr>
          <p:cNvPr id="3" name="Shape 1"/>
          <p:cNvSpPr/>
          <p:nvPr/>
        </p:nvSpPr>
        <p:spPr>
          <a:xfrm>
            <a:off x="698086" y="914896"/>
            <a:ext cx="1827564" cy="144959"/>
          </a:xfrm>
          <a:prstGeom prst="roundRect">
            <a:avLst>
              <a:gd name="adj" fmla="val 7902"/>
            </a:avLst>
          </a:prstGeom>
          <a:noFill/>
          <a:ln w="6350">
            <a:solidFill>
              <a:srgbClr val="F98AC7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333" y="949226"/>
            <a:ext cx="76297" cy="762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9730" y="943741"/>
            <a:ext cx="2208256" cy="87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                WEEK 5 — UI INTEGRATION COMPLETE       </a:t>
            </a:r>
            <a:endParaRPr lang="en-US" sz="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1118493"/>
            <a:ext cx="190892" cy="19089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4163" y="1151235"/>
            <a:ext cx="5109042" cy="14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Interactive Telemetry Charts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954163" y="1322884"/>
            <a:ext cx="5109042" cy="23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Animated cubic line charts powered by </a:t>
            </a:r>
            <a:r>
              <a:rPr lang="en-US" sz="7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Recharts</a:t>
            </a:r>
            <a:r>
              <a:rPr lang="en-US" sz="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display </a:t>
            </a:r>
            <a:r>
              <a:rPr lang="en-US" sz="750" dirty="0">
                <a:solidFill>
                  <a:srgbClr val="00D9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Irradiance vs. Predicted Wattage</a:t>
            </a:r>
            <a:r>
              <a:rPr lang="en-US" sz="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 real time, auto-refreshing every 5 seconds without page reload.</a:t>
            </a:r>
            <a:endParaRPr lang="en-US" sz="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28390" y="1118493"/>
            <a:ext cx="190892" cy="19089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384468" y="1151235"/>
            <a:ext cx="5109142" cy="14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Live Weather Barometer</a:t>
            </a:r>
            <a:endParaRPr lang="en-US" sz="850" dirty="0"/>
          </a:p>
        </p:txBody>
      </p:sp>
      <p:sp>
        <p:nvSpPr>
          <p:cNvPr id="11" name="Text 6"/>
          <p:cNvSpPr/>
          <p:nvPr/>
        </p:nvSpPr>
        <p:spPr>
          <a:xfrm>
            <a:off x="6384468" y="1322884"/>
            <a:ext cx="5109142" cy="23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outdoor temperature feed continuously synced with the </a:t>
            </a:r>
            <a:r>
              <a:rPr lang="en-US" sz="7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Open-Meteo API</a:t>
            </a:r>
            <a:r>
              <a:rPr lang="en-US" sz="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surfacing ambient conditions relevant to panel efficiency and thermal thresholds.</a:t>
            </a:r>
            <a:endParaRPr lang="en-US" sz="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086" y="1663402"/>
            <a:ext cx="190892" cy="19089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54163" y="1696145"/>
            <a:ext cx="5109042" cy="14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Quick Audit Export</a:t>
            </a:r>
            <a:endParaRPr lang="en-US" sz="850" dirty="0"/>
          </a:p>
        </p:txBody>
      </p:sp>
      <p:sp>
        <p:nvSpPr>
          <p:cNvPr id="14" name="Text 8"/>
          <p:cNvSpPr/>
          <p:nvPr/>
        </p:nvSpPr>
        <p:spPr>
          <a:xfrm>
            <a:off x="954163" y="1867793"/>
            <a:ext cx="5109042" cy="23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Single-click </a:t>
            </a:r>
            <a:r>
              <a:rPr lang="en-US" sz="7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CSV export</a:t>
            </a:r>
            <a:r>
              <a:rPr lang="en-US" sz="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button for client-side reporting and offline data auditing — no backend request required for export generation.</a:t>
            </a:r>
            <a:endParaRPr lang="en-US" sz="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28390" y="1663402"/>
            <a:ext cx="190892" cy="19089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384468" y="1696145"/>
            <a:ext cx="5109142" cy="14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System Status</a:t>
            </a:r>
            <a:endParaRPr lang="en-US" sz="850" dirty="0"/>
          </a:p>
        </p:txBody>
      </p:sp>
      <p:sp>
        <p:nvSpPr>
          <p:cNvPr id="17" name="Text 10"/>
          <p:cNvSpPr/>
          <p:nvPr/>
        </p:nvSpPr>
        <p:spPr>
          <a:xfrm>
            <a:off x="6384468" y="1867793"/>
            <a:ext cx="5109142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Live system indicator confirms the dashboard is connected and updating normally.</a:t>
            </a:r>
            <a:endParaRPr lang="en-US" sz="750" dirty="0"/>
          </a:p>
        </p:txBody>
      </p:sp>
      <p:sp>
        <p:nvSpPr>
          <p:cNvPr id="18" name="Shape 11"/>
          <p:cNvSpPr/>
          <p:nvPr/>
        </p:nvSpPr>
        <p:spPr>
          <a:xfrm>
            <a:off x="698086" y="2186384"/>
            <a:ext cx="10795524" cy="12700"/>
          </a:xfrm>
          <a:prstGeom prst="roundRect">
            <a:avLst>
              <a:gd name="adj" fmla="val 49999"/>
            </a:avLst>
          </a:prstGeom>
          <a:solidFill>
            <a:srgbClr val="D6E5EF">
              <a:alpha val="50000"/>
            </a:srgbClr>
          </a:solidFill>
          <a:ln/>
        </p:spPr>
      </p:sp>
      <p:sp>
        <p:nvSpPr>
          <p:cNvPr id="19" name="Text 12"/>
          <p:cNvSpPr/>
          <p:nvPr/>
        </p:nvSpPr>
        <p:spPr>
          <a:xfrm>
            <a:off x="698086" y="2308530"/>
            <a:ext cx="10795524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Dashboard Features in Action</a:t>
            </a:r>
            <a:endParaRPr lang="en-US" sz="14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086" y="2662634"/>
            <a:ext cx="1028674" cy="266700"/>
          </a:xfrm>
          <a:prstGeom prst="rect">
            <a:avLst/>
          </a:prstGeom>
        </p:spPr>
      </p:pic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8086" y="2987973"/>
            <a:ext cx="990575" cy="215900"/>
          </a:xfrm>
          <a:prstGeom prst="rect">
            <a:avLst/>
          </a:prstGeom>
        </p:spPr>
      </p:pic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89455" y="2662634"/>
            <a:ext cx="3182560" cy="378222"/>
          </a:xfrm>
          <a:prstGeom prst="rect">
            <a:avLst/>
          </a:prstGeom>
        </p:spPr>
      </p:pic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8086" y="3323134"/>
            <a:ext cx="9429514" cy="546100"/>
          </a:xfrm>
          <a:prstGeom prst="rect">
            <a:avLst/>
          </a:prstGeom>
        </p:spPr>
      </p:pic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8086" y="3927872"/>
            <a:ext cx="9315217" cy="2400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65082"/>
            <a:ext cx="10795524" cy="32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Anomaly Simulator &amp; System Stress Testing</a:t>
            </a:r>
            <a:endParaRPr lang="en-US" sz="2050" dirty="0"/>
          </a:p>
        </p:txBody>
      </p:sp>
      <p:sp>
        <p:nvSpPr>
          <p:cNvPr id="3" name="Shape 1"/>
          <p:cNvSpPr/>
          <p:nvPr/>
        </p:nvSpPr>
        <p:spPr>
          <a:xfrm>
            <a:off x="698086" y="1020961"/>
            <a:ext cx="1385357" cy="169962"/>
          </a:xfrm>
          <a:prstGeom prst="roundRect">
            <a:avLst>
              <a:gd name="adj" fmla="val 7895"/>
            </a:avLst>
          </a:prstGeom>
          <a:solidFill>
            <a:srgbClr val="49042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156" y="1061244"/>
            <a:ext cx="89394" cy="893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99197" y="1054497"/>
            <a:ext cx="1726760" cy="10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ENDPOINT: /INJECT-ANOMALY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698086" y="1271488"/>
            <a:ext cx="10795524" cy="293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anomaly injection framework validates model responsiveness and UI alerting under synthetic but physically realistic stress conditions — confirming that the LSTM and advisory system behave correctly before hardware integration.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98086" y="1723594"/>
            <a:ext cx="5261439" cy="170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☁</a:t>
            </a:r>
            <a:r>
              <a:rPr lang="en-US" sz="10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Cloud Cover Simulation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98086" y="1959372"/>
            <a:ext cx="5261439" cy="510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9000"/>
              </a:lnSpc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Injection:</a:t>
            </a:r>
            <a:r>
              <a:rPr lang="en-US" sz="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Severe irradiance drop to </a:t>
            </a:r>
            <a:r>
              <a:rPr lang="en-US" sz="8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120 W/m²</a:t>
            </a:r>
            <a:r>
              <a:rPr lang="en-US" sz="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triggered via </a:t>
            </a:r>
            <a:r>
              <a:rPr lang="en-US" sz="8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/inject-anomaly</a:t>
            </a:r>
            <a:endParaRPr lang="en-US" sz="85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8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Outcome:</a:t>
            </a:r>
            <a:r>
              <a:rPr lang="en-US" sz="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Confirms LSTM model immediately revises wattage forecast </a:t>
            </a:r>
            <a:r>
              <a:rPr lang="en-US" sz="8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downward</a:t>
            </a:r>
            <a:r>
              <a:rPr lang="en-US" sz="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 response to the synthetic irradiance collapse — validating real-time model sensitivity.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238520" y="1723594"/>
            <a:ext cx="5261439" cy="170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🌡</a:t>
            </a:r>
            <a:r>
              <a:rPr lang="en-US" sz="10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Panel Overheat Simulation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238520" y="1959372"/>
            <a:ext cx="5261439" cy="504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9000"/>
              </a:lnSpc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Injection:</a:t>
            </a:r>
            <a:r>
              <a:rPr lang="en-US" sz="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Synthetic temperature spikes above </a:t>
            </a:r>
            <a:r>
              <a:rPr lang="en-US" sz="8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40°C</a:t>
            </a:r>
            <a:r>
              <a:rPr lang="en-US" sz="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pushed into the telemetry stream.</a:t>
            </a:r>
            <a:endParaRPr lang="en-US" sz="85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8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Outcome:</a:t>
            </a:r>
            <a:r>
              <a:rPr lang="en-US" sz="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Triggers automated </a:t>
            </a:r>
            <a:r>
              <a:rPr lang="en-US" sz="850" dirty="0">
                <a:solidFill>
                  <a:srgbClr val="FF149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UI Advisory Banner</a:t>
            </a:r>
            <a:r>
              <a:rPr lang="en-US" sz="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warning operators of panel derating and thermal stress — confirming end-to-end alert pipeline integrity.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238520" y="2544564"/>
            <a:ext cx="5261439" cy="331291"/>
          </a:xfrm>
          <a:prstGeom prst="roundRect">
            <a:avLst>
              <a:gd name="adj" fmla="val 5063"/>
            </a:avLst>
          </a:prstGeom>
          <a:solidFill>
            <a:srgbClr val="4B3F02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337" y="2654002"/>
            <a:ext cx="139697" cy="1118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01850" y="2636838"/>
            <a:ext cx="5395877" cy="146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Advisory banners are suppressed in demo mode. Enable live alerting before field deployment.</a:t>
            </a:r>
            <a:endParaRPr lang="en-US" sz="8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2577" y="3429000"/>
            <a:ext cx="6658999" cy="30447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97082"/>
            <a:ext cx="10795524" cy="385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Backend &amp; Machine Learning Deliverables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98086" y="1215322"/>
            <a:ext cx="5238123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Integration Architecture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1512391"/>
            <a:ext cx="5238123" cy="1152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24200" y="1662311"/>
            <a:ext cx="4862093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Node.js Child Process Execution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24200" y="1952923"/>
            <a:ext cx="4862093" cy="562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Cross-runtime integration bridging the Express backend directly to Python TensorFlow — </a:t>
            </a:r>
            <a:r>
              <a:rPr lang="en-US" sz="10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without microservice overhead</a:t>
            </a: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The server spawns </a:t>
            </a:r>
            <a:r>
              <a:rPr lang="en-US" sz="100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predict.py</a:t>
            </a: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as a child process, passing telemetry context via stdin and capturing inference output via stdout.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2763143"/>
            <a:ext cx="5238123" cy="95676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24200" y="2913063"/>
            <a:ext cx="4862093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Preprocessing &amp; Normalization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924200" y="3203674"/>
            <a:ext cx="4862093" cy="366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Feature scaling pipeline for </a:t>
            </a:r>
            <a:r>
              <a:rPr lang="en-US" sz="10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irradiance</a:t>
            </a: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10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ambient temperature</a:t>
            </a: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and </a:t>
            </a:r>
            <a:r>
              <a:rPr lang="en-US" sz="10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power metrics</a:t>
            </a: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All inputs are normalized before being assembled into the 60-step LSTM sequence window.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261836" y="1215322"/>
            <a:ext cx="5238123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REST API Suite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261836" y="1512391"/>
            <a:ext cx="2569999" cy="1108174"/>
          </a:xfrm>
          <a:prstGeom prst="roundRect">
            <a:avLst>
              <a:gd name="adj" fmla="val 1772"/>
            </a:avLst>
          </a:prstGeom>
          <a:solidFill>
            <a:srgbClr val="444752"/>
          </a:solidFill>
          <a:ln/>
        </p:spPr>
      </p:sp>
      <p:sp>
        <p:nvSpPr>
          <p:cNvPr id="12" name="Text 8"/>
          <p:cNvSpPr/>
          <p:nvPr/>
        </p:nvSpPr>
        <p:spPr>
          <a:xfrm>
            <a:off x="6392703" y="1643261"/>
            <a:ext cx="2308266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/recent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392703" y="1940223"/>
            <a:ext cx="2308266" cy="549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Fetch recent sensor logs from MongoDB time-series store. Used by dashboard on every 5-second poll cycle.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929960" y="1512391"/>
            <a:ext cx="2569999" cy="1108174"/>
          </a:xfrm>
          <a:prstGeom prst="roundRect">
            <a:avLst>
              <a:gd name="adj" fmla="val 1772"/>
            </a:avLst>
          </a:prstGeom>
          <a:solidFill>
            <a:srgbClr val="444752"/>
          </a:solidFill>
          <a:ln/>
        </p:spPr>
      </p:sp>
      <p:sp>
        <p:nvSpPr>
          <p:cNvPr id="15" name="Text 11"/>
          <p:cNvSpPr/>
          <p:nvPr/>
        </p:nvSpPr>
        <p:spPr>
          <a:xfrm>
            <a:off x="9060826" y="1643261"/>
            <a:ext cx="2308266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/predict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9060826" y="1940223"/>
            <a:ext cx="2308266" cy="549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Execute LSTM inference via Python child process. Returns forecasted wattage for the next sequence window.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261836" y="2718693"/>
            <a:ext cx="5238123" cy="925016"/>
          </a:xfrm>
          <a:prstGeom prst="roundRect">
            <a:avLst>
              <a:gd name="adj" fmla="val 2123"/>
            </a:avLst>
          </a:prstGeom>
          <a:solidFill>
            <a:srgbClr val="444752"/>
          </a:solidFill>
          <a:ln/>
        </p:spPr>
      </p:sp>
      <p:sp>
        <p:nvSpPr>
          <p:cNvPr id="18" name="Text 14"/>
          <p:cNvSpPr/>
          <p:nvPr/>
        </p:nvSpPr>
        <p:spPr>
          <a:xfrm>
            <a:off x="6392703" y="2849563"/>
            <a:ext cx="4976390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/inject-anomaly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392703" y="3146524"/>
            <a:ext cx="4976390" cy="366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Trigger real-world stress scenarios — cloud cover drops or overheat spikes — to validate model and UI advisory response.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698086" y="4006155"/>
            <a:ext cx="5336446" cy="431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60</a:t>
            </a:r>
            <a:endParaRPr lang="en-US" sz="3400" dirty="0"/>
          </a:p>
        </p:txBody>
      </p:sp>
      <p:sp>
        <p:nvSpPr>
          <p:cNvPr id="21" name="Text 17"/>
          <p:cNvSpPr/>
          <p:nvPr/>
        </p:nvSpPr>
        <p:spPr>
          <a:xfrm>
            <a:off x="698036" y="4577159"/>
            <a:ext cx="5336446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LSTM Sequence Steps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98086" y="4828480"/>
            <a:ext cx="5336446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Input window length for each wattage prediction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6157163" y="4006155"/>
            <a:ext cx="5336446" cy="431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5s</a:t>
            </a:r>
            <a:endParaRPr lang="en-US" sz="3400" dirty="0"/>
          </a:p>
        </p:txBody>
      </p:sp>
      <p:sp>
        <p:nvSpPr>
          <p:cNvPr id="24" name="Text 20"/>
          <p:cNvSpPr/>
          <p:nvPr/>
        </p:nvSpPr>
        <p:spPr>
          <a:xfrm>
            <a:off x="6157163" y="4577159"/>
            <a:ext cx="5336446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Poll Interval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157163" y="4828480"/>
            <a:ext cx="5336446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React dashboard auto-refresh rate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698086" y="5273377"/>
            <a:ext cx="5336446" cy="431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3400" dirty="0"/>
          </a:p>
        </p:txBody>
      </p:sp>
      <p:sp>
        <p:nvSpPr>
          <p:cNvPr id="27" name="Text 23"/>
          <p:cNvSpPr/>
          <p:nvPr/>
        </p:nvSpPr>
        <p:spPr>
          <a:xfrm>
            <a:off x="698086" y="5844381"/>
            <a:ext cx="5336446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REST Endpoints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698086" y="6095702"/>
            <a:ext cx="5336446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Core API surface powering the full platform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6157163" y="5273377"/>
            <a:ext cx="5336446" cy="431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40°C</a:t>
            </a:r>
            <a:endParaRPr lang="en-US" sz="3400" dirty="0"/>
          </a:p>
        </p:txBody>
      </p:sp>
      <p:sp>
        <p:nvSpPr>
          <p:cNvPr id="30" name="Text 26"/>
          <p:cNvSpPr/>
          <p:nvPr/>
        </p:nvSpPr>
        <p:spPr>
          <a:xfrm>
            <a:off x="6157163" y="5844381"/>
            <a:ext cx="5336446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Thermal Threshold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6157163" y="6095702"/>
            <a:ext cx="5336446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Temperature level triggering advisory banner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18709"/>
            <a:ext cx="10795524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Future Roadmap &amp; Next Steps</a:t>
            </a:r>
            <a:endParaRPr lang="en-US" sz="2850" dirty="0"/>
          </a:p>
        </p:txBody>
      </p:sp>
      <p:sp>
        <p:nvSpPr>
          <p:cNvPr id="3" name="Shape 1"/>
          <p:cNvSpPr/>
          <p:nvPr/>
        </p:nvSpPr>
        <p:spPr>
          <a:xfrm>
            <a:off x="698086" y="1233686"/>
            <a:ext cx="1799188" cy="857448"/>
          </a:xfrm>
          <a:prstGeom prst="roundRect">
            <a:avLst>
              <a:gd name="adj" fmla="val 2719"/>
            </a:avLst>
          </a:prstGeom>
          <a:solidFill>
            <a:srgbClr val="44475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88343" y="1553071"/>
            <a:ext cx="218573" cy="21857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652646" y="1389063"/>
            <a:ext cx="8685591" cy="228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Phase 3 — Cloud Production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652646" y="1700609"/>
            <a:ext cx="8685591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Cloud-hosted production deployment and multi-site solar farm management at scale.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574960" y="2083197"/>
            <a:ext cx="8840963" cy="9525"/>
          </a:xfrm>
          <a:prstGeom prst="roundRect">
            <a:avLst>
              <a:gd name="adj" fmla="val 49999"/>
            </a:avLst>
          </a:prstGeom>
          <a:solidFill>
            <a:srgbClr val="5D606B"/>
          </a:solidFill>
          <a:ln/>
        </p:spPr>
      </p:sp>
      <p:sp>
        <p:nvSpPr>
          <p:cNvPr id="8" name="Shape 5"/>
          <p:cNvSpPr/>
          <p:nvPr/>
        </p:nvSpPr>
        <p:spPr>
          <a:xfrm>
            <a:off x="698086" y="2168823"/>
            <a:ext cx="3598475" cy="1092597"/>
          </a:xfrm>
          <a:prstGeom prst="roundRect">
            <a:avLst>
              <a:gd name="adj" fmla="val 2134"/>
            </a:avLst>
          </a:prstGeom>
          <a:solidFill>
            <a:srgbClr val="44475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88036" y="2605782"/>
            <a:ext cx="218573" cy="21857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51933" y="2324199"/>
            <a:ext cx="6886304" cy="228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Phase 2 — Hardware Integration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451933" y="2635746"/>
            <a:ext cx="6886304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Replace synthetic telemetry with real </a:t>
            </a:r>
            <a:r>
              <a:rPr lang="en-US" sz="12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ESP32</a:t>
            </a: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&amp; </a:t>
            </a:r>
            <a:r>
              <a:rPr lang="en-US" sz="12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INA219</a:t>
            </a: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current/voltage sensors for genuine field data ingestion.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374247" y="3253482"/>
            <a:ext cx="7041676" cy="9525"/>
          </a:xfrm>
          <a:prstGeom prst="roundRect">
            <a:avLst>
              <a:gd name="adj" fmla="val 49999"/>
            </a:avLst>
          </a:prstGeom>
          <a:solidFill>
            <a:srgbClr val="5D606B"/>
          </a:solidFill>
          <a:ln/>
        </p:spPr>
      </p:sp>
      <p:sp>
        <p:nvSpPr>
          <p:cNvPr id="13" name="Shape 9"/>
          <p:cNvSpPr/>
          <p:nvPr/>
        </p:nvSpPr>
        <p:spPr>
          <a:xfrm>
            <a:off x="698086" y="3339108"/>
            <a:ext cx="5397762" cy="1092597"/>
          </a:xfrm>
          <a:prstGeom prst="roundRect">
            <a:avLst>
              <a:gd name="adj" fmla="val 2134"/>
            </a:avLst>
          </a:prstGeom>
          <a:solidFill>
            <a:srgbClr val="444752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87630" y="3776067"/>
            <a:ext cx="218573" cy="21857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51220" y="3494484"/>
            <a:ext cx="5087016" cy="228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Phase 1 — Mobile Deployment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251220" y="3806031"/>
            <a:ext cx="5087016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Deploy via </a:t>
            </a:r>
            <a:r>
              <a:rPr lang="en-US" sz="12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Capacitor / Android Gradle</a:t>
            </a: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toolchain, enabling field technicians to monitor telemetry and receive thermal alerts on mobile devices.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98086" y="4735311"/>
            <a:ext cx="5208160" cy="228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Where We Are Today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98086" y="5092700"/>
            <a:ext cx="5208160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End-to-end system fully integrated through Week 5 — ingestion, LSTM inference, REST API, and live React dashboard all operational with anomaly testing validated.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291800" y="4735311"/>
            <a:ext cx="5208160" cy="228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Open for Questions &amp; Live Demonstration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291800" y="5092700"/>
            <a:ext cx="5208160" cy="718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system is running live. The team is ready to walk through the dashboard, trigger anomaly injection via </a:t>
            </a:r>
            <a:r>
              <a:rPr lang="en-US" sz="120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/inject-anomaly</a:t>
            </a: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and demonstrate LSTM inference in real time.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291800" y="5966520"/>
            <a:ext cx="1433973" cy="236141"/>
          </a:xfrm>
          <a:prstGeom prst="roundRect">
            <a:avLst>
              <a:gd name="adj" fmla="val 7900"/>
            </a:avLst>
          </a:prstGeom>
          <a:noFill/>
          <a:ln w="6350">
            <a:solidFill>
              <a:srgbClr val="F98AC7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5063" y="6022380"/>
            <a:ext cx="124318" cy="12432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571490" y="6015497"/>
            <a:ext cx="167060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MOHAMMED FAIZ CK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7803459" y="5966520"/>
            <a:ext cx="1052387" cy="236141"/>
          </a:xfrm>
          <a:prstGeom prst="roundRect">
            <a:avLst>
              <a:gd name="adj" fmla="val 7900"/>
            </a:avLst>
          </a:prstGeom>
          <a:noFill/>
          <a:ln w="6350">
            <a:solidFill>
              <a:srgbClr val="F98AC7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6722" y="6022380"/>
            <a:ext cx="124318" cy="12432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083149" y="6015497"/>
            <a:ext cx="128901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ARYAN SOVIT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8933532" y="5966520"/>
            <a:ext cx="1731324" cy="236141"/>
          </a:xfrm>
          <a:prstGeom prst="roundRect">
            <a:avLst>
              <a:gd name="adj" fmla="val 7900"/>
            </a:avLst>
          </a:prstGeom>
          <a:noFill/>
          <a:ln w="6350">
            <a:solidFill>
              <a:srgbClr val="F98AC7"/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6795" y="6022380"/>
            <a:ext cx="124318" cy="124321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213223" y="6015497"/>
            <a:ext cx="196795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YASHWANTH CHANDAWAT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1051</Words>
  <Application>Microsoft Office PowerPoint</Application>
  <PresentationFormat>Widescreen</PresentationFormat>
  <Paragraphs>148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Source Sans 3</vt:lpstr>
      <vt:lpstr>Consolas</vt:lpstr>
      <vt:lpstr>Source Sans 3 Bold</vt:lpstr>
      <vt:lpstr>Arial</vt:lpstr>
      <vt:lpstr>Noto Color Emoji</vt:lpstr>
      <vt:lpstr>Lora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mohammedfaizck454@outlook.com</cp:lastModifiedBy>
  <cp:revision>4</cp:revision>
  <dcterms:created xsi:type="dcterms:W3CDTF">2026-10-08T07:24:28Z</dcterms:created>
  <dcterms:modified xsi:type="dcterms:W3CDTF">2026-10-14T06:34:46Z</dcterms:modified>
</cp:coreProperties>
</file>