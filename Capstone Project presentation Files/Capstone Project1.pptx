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574" y="1304584"/>
            <a:ext cx="11715750" cy="155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120"/>
              </a:lnSpc>
            </a:pPr>
            <a:r>
              <a:rPr sz="5100" b="0" i="0" u="none" dirty="0">
                <a:solidFill>
                  <a:srgbClr val="F3F0DF"/>
                </a:solidFill>
                <a:latin typeface="Merriweather"/>
              </a:rPr>
              <a:t>IoT-Driven AI Solar Power Prediction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75897" y="3307556"/>
            <a:ext cx="63912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0" u="none" dirty="0">
                <a:solidFill>
                  <a:srgbClr val="CBD5E1"/>
                </a:solidFill>
                <a:latin typeface="DM Sans"/>
              </a:rPr>
              <a:t>Smart Grid Stability, Hyper-Local Telemetry, and Deep Learning Forecasting for India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04AA755-5566-F1D8-B5A1-DB55B63D9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74" y="4447668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IN" sz="22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Team Members</a:t>
            </a:r>
            <a:br>
              <a:rPr lang="en-IN" sz="22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</a:br>
            <a:r>
              <a:rPr lang="en-IN" sz="20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Aryan Sovit – 2411021240074</a:t>
            </a:r>
            <a:br>
              <a:rPr lang="en-IN" sz="2000" dirty="0">
                <a:solidFill>
                  <a:schemeClr val="accent3">
                    <a:lumMod val="40000"/>
                    <a:lumOff val="60000"/>
                  </a:schemeClr>
                </a:solidFill>
              </a:rPr>
            </a:br>
            <a:r>
              <a:rPr lang="en-IN" sz="2000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Yashwanth</a:t>
            </a:r>
            <a:r>
              <a:rPr lang="en-IN" sz="2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IN" sz="2000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Chandawat</a:t>
            </a:r>
            <a:r>
              <a:rPr lang="en-IN" sz="2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- </a:t>
            </a:r>
            <a:r>
              <a:rPr lang="en-IN" sz="20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2411021240005</a:t>
            </a:r>
            <a:br>
              <a:rPr lang="en-IN" sz="2000" dirty="0">
                <a:solidFill>
                  <a:schemeClr val="accent3">
                    <a:lumMod val="40000"/>
                    <a:lumOff val="60000"/>
                  </a:schemeClr>
                </a:solidFill>
              </a:rPr>
            </a:br>
            <a:r>
              <a:rPr lang="en-IN" sz="20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Muhammed Faiz C K - 2411021240042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286000"/>
            <a:ext cx="5429250" cy="304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476250"/>
            <a:ext cx="117157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F172A"/>
                </a:solidFill>
                <a:latin typeface="Merriweather"/>
              </a:rPr>
              <a:t>The Real-World Problem: Grid Instability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283618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2286000"/>
            <a:ext cx="5238750" cy="48577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DM Sans"/>
              </a:rPr>
              <a:t>Intermittent Generation:</a:t>
            </a:r>
            <a:r>
              <a:rPr sz="1275" b="0" i="0" u="none">
                <a:solidFill>
                  <a:srgbClr val="334155"/>
                </a:solidFill>
                <a:latin typeface="DM Sans"/>
              </a:rPr>
              <a:t> Solar generation swings heavily due to sudden cloud shadows, monsoons, and ambient weather changes.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883693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2886075"/>
            <a:ext cx="5238750" cy="728662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DM Sans"/>
              </a:rPr>
              <a:t>Blind Weather Forecasting:</a:t>
            </a:r>
            <a:r>
              <a:rPr sz="1275" b="0" i="0" u="none">
                <a:solidFill>
                  <a:srgbClr val="334155"/>
                </a:solidFill>
                <a:latin typeface="DM Sans"/>
              </a:rPr>
              <a:t> Standard meteorological forecasts are macro-level and miss micro-climate variances at localized solar plants.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726656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3729037"/>
            <a:ext cx="5238750" cy="48577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DM Sans"/>
              </a:rPr>
              <a:t>Grid Balancing Failures:</a:t>
            </a:r>
            <a:r>
              <a:rPr sz="1275" b="0" i="0" u="none">
                <a:solidFill>
                  <a:srgbClr val="334155"/>
                </a:solidFill>
                <a:latin typeface="DM Sans"/>
              </a:rPr>
              <a:t> Mismatches between predicted supply and actual demand cause dangerous frequency drops and blackouts.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326731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" y="4329112"/>
            <a:ext cx="5238750" cy="48577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DM Sans"/>
              </a:rPr>
              <a:t>Economic Strain:</a:t>
            </a:r>
            <a:r>
              <a:rPr sz="1275" b="0" i="0" u="none">
                <a:solidFill>
                  <a:srgbClr val="334155"/>
                </a:solidFill>
                <a:latin typeface="DM Sans"/>
              </a:rPr>
              <a:t> Grid operators are forced to keep expensive, highly polluting fossil-fuel backup peaking plants spinning.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50" y="2305050"/>
            <a:ext cx="5391150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0"/>
            <a:ext cx="5429250" cy="304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476250"/>
            <a:ext cx="117157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3F0DF"/>
                </a:solidFill>
                <a:latin typeface="Merriweather"/>
              </a:rPr>
              <a:t>The Solution: Real-Time IoT Telemetry + AI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305050"/>
            <a:ext cx="5391150" cy="3009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19850" y="2283618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CBD5E1"/>
                </a:solidFill>
                <a:latin typeface="DM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0" y="2286000"/>
            <a:ext cx="5238750" cy="48577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DM Sans"/>
              </a:rPr>
              <a:t>Hyper-Local Edge Sensing:</a:t>
            </a:r>
            <a:r>
              <a:rPr sz="1275" b="0" i="0" u="none">
                <a:solidFill>
                  <a:srgbClr val="CBD5E1"/>
                </a:solidFill>
                <a:latin typeface="DM Sans"/>
              </a:rPr>
              <a:t> Deploying physical IoT nodes directly at the solar farm site to capture true live environmental conditions.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9850" y="2883693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CBD5E1"/>
                </a:solidFill>
                <a:latin typeface="DM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0" y="2886075"/>
            <a:ext cx="5238750" cy="728662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DM Sans"/>
              </a:rPr>
              <a:t>Continuous Data Stream:</a:t>
            </a:r>
            <a:r>
              <a:rPr sz="1275" b="0" i="0" u="none">
                <a:solidFill>
                  <a:srgbClr val="CBD5E1"/>
                </a:solidFill>
                <a:latin typeface="DM Sans"/>
              </a:rPr>
              <a:t> Hardware pushes live irradiance, temperature, and electrical output telemetry straight to a centralized database.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850" y="3726656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CBD5E1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3729037"/>
            <a:ext cx="5238750" cy="728662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DM Sans"/>
              </a:rPr>
              <a:t>Deep Learning Forecasting:</a:t>
            </a:r>
            <a:r>
              <a:rPr sz="1275" b="0" i="0" u="none">
                <a:solidFill>
                  <a:srgbClr val="CBD5E1"/>
                </a:solidFill>
                <a:latin typeface="DM Sans"/>
              </a:rPr>
              <a:t> Feeding real-time IoT sequences into trained LSTM (Long Short-Term Memory) networks to predict yields hours ahead.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702718"/>
            <a:ext cx="3587799" cy="221456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174" y="2702718"/>
            <a:ext cx="3587799" cy="22145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702718"/>
            <a:ext cx="3587799" cy="22145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476250"/>
            <a:ext cx="117157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F172A"/>
                </a:solidFill>
                <a:latin typeface="Merriweather"/>
              </a:rPr>
              <a:t>Integrated IoT Hardware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325" y="3436143"/>
            <a:ext cx="3307132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172A"/>
                </a:solidFill>
                <a:latin typeface="Merriweather"/>
              </a:rPr>
              <a:t>ESP32 Microcontroller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" y="3826668"/>
            <a:ext cx="314964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Acts as the local edge device, reading sensor telemetry and transmitting data wirelessly via Wi-Fi/MQTT.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249" y="3436143"/>
            <a:ext cx="3307132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172A"/>
                </a:solidFill>
                <a:latin typeface="Merriweather"/>
              </a:rPr>
              <a:t>Irradiance Sensor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1249" y="3826668"/>
            <a:ext cx="314964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Measures precise sunlight intensity hitting the panel surface to track immediate power generation potential.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7174" y="3436143"/>
            <a:ext cx="3307132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172A"/>
                </a:solidFill>
                <a:latin typeface="Merriweather"/>
              </a:rPr>
              <a:t>Thermal &amp; Current Sensors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7174" y="3826668"/>
            <a:ext cx="314964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Tracks panel surface temperature (DS18B20) and actual DC power output (INA219) for ground-truth validation.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" y="2959893"/>
            <a:ext cx="3048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1249" y="2959893"/>
            <a:ext cx="3048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7174" y="2959893"/>
            <a:ext cx="1905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959893"/>
            <a:ext cx="3587799" cy="170021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174" y="2959893"/>
            <a:ext cx="3587799" cy="17002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959893"/>
            <a:ext cx="3587799" cy="17002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476250"/>
            <a:ext cx="117157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3F0DF"/>
                </a:solidFill>
                <a:latin typeface="Merriweather"/>
              </a:rPr>
              <a:t>End-to-End IoT-to-AI Data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325" y="3178968"/>
            <a:ext cx="3307132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3F0DF"/>
                </a:solidFill>
                <a:latin typeface="Merriweather"/>
              </a:rPr>
              <a:t>1. Edge 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" y="3569493"/>
            <a:ext cx="314964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DM Sans"/>
              </a:rPr>
              <a:t>ESP32 gathers live sensor streams every minute and pushes payloads to a local MySQL server.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249" y="3178968"/>
            <a:ext cx="3307132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3F0DF"/>
                </a:solidFill>
                <a:latin typeface="Merriweather"/>
              </a:rPr>
              <a:t>2. Data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1249" y="3569493"/>
            <a:ext cx="314964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DM Sans"/>
              </a:rPr>
              <a:t>Python script pulls database records, filters out night hours, and scales historical sequence windows.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7174" y="3178968"/>
            <a:ext cx="3307132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3F0DF"/>
                </a:solidFill>
                <a:latin typeface="Merriweather"/>
              </a:rPr>
              <a:t>3. AI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7174" y="3569493"/>
            <a:ext cx="314964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DM Sans"/>
              </a:rPr>
              <a:t>Trained LSTM network computes rolling solar forecasts and logs outputs for visualization.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286000"/>
            <a:ext cx="5429250" cy="304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476250"/>
            <a:ext cx="117157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F172A"/>
                </a:solidFill>
                <a:latin typeface="Merriweather"/>
              </a:rPr>
              <a:t>Model 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283618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2286000"/>
            <a:ext cx="5238750" cy="728662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DM Sans"/>
              </a:rPr>
              <a:t>Root Mean Squared Error (RMSE):</a:t>
            </a:r>
            <a:r>
              <a:rPr sz="1275" b="0" i="0" u="none">
                <a:solidFill>
                  <a:srgbClr val="334155"/>
                </a:solidFill>
                <a:latin typeface="DM Sans"/>
              </a:rPr>
              <a:t> Heavily penalizes large forecasting errors, which is vital for preventing major grid imbalances.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126581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3128962"/>
            <a:ext cx="5238750" cy="48577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DM Sans"/>
              </a:rPr>
              <a:t>Mean Absolute Error (MAE):</a:t>
            </a:r>
            <a:r>
              <a:rPr sz="1275" b="0" i="0" u="none">
                <a:solidFill>
                  <a:srgbClr val="334155"/>
                </a:solidFill>
                <a:latin typeface="DM Sans"/>
              </a:rPr>
              <a:t> Measures average magnitude of absolute prediction errors across daylight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726656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3729037"/>
            <a:ext cx="5238750" cy="48577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DM Sans"/>
              </a:rPr>
              <a:t>IoT vs. Weather API:</a:t>
            </a:r>
            <a:r>
              <a:rPr sz="1275" b="0" i="0" u="none">
                <a:solidFill>
                  <a:srgbClr val="334155"/>
                </a:solidFill>
                <a:latin typeface="DM Sans"/>
              </a:rPr>
              <a:t> Proving that local IoT telemetry drastically reduces error rates compared to macro-level public APIs.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50" y="2305050"/>
            <a:ext cx="5391150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6250" y="476250"/>
            <a:ext cx="117157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3F0DF"/>
                </a:solidFill>
                <a:latin typeface="Merriweather"/>
              </a:rPr>
              <a:t>Software Output: Power BI Control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9850" y="2283618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CBD5E1"/>
                </a:solidFill>
                <a:latin typeface="DM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0" y="2286000"/>
            <a:ext cx="5238750" cy="48577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DM Sans"/>
              </a:rPr>
              <a:t>Operational Control Room:</a:t>
            </a:r>
            <a:r>
              <a:rPr sz="1275" b="0" i="0" u="none">
                <a:solidFill>
                  <a:srgbClr val="CBD5E1"/>
                </a:solidFill>
                <a:latin typeface="DM Sans"/>
              </a:rPr>
              <a:t> Connecting model predictions directly into Power BI to create an interactive decision cockpit.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9850" y="2883693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CBD5E1"/>
                </a:solidFill>
                <a:latin typeface="DM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0" y="2886075"/>
            <a:ext cx="5238750" cy="48577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DM Sans"/>
              </a:rPr>
              <a:t>Visual Overlays:</a:t>
            </a:r>
            <a:r>
              <a:rPr sz="1275" b="0" i="0" u="none">
                <a:solidFill>
                  <a:srgbClr val="CBD5E1"/>
                </a:solidFill>
                <a:latin typeface="DM Sans"/>
              </a:rPr>
              <a:t> Side-by-side time charts showing live IoT *Actual Generation* versus *AI Predicted Generation*.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850" y="3483768"/>
            <a:ext cx="571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CBD5E1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3486150"/>
            <a:ext cx="5238750" cy="48577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DM Sans"/>
              </a:rPr>
              <a:t>Proactive Alerting:</a:t>
            </a:r>
            <a:r>
              <a:rPr sz="1275" b="0" i="0" u="none">
                <a:solidFill>
                  <a:srgbClr val="CBD5E1"/>
                </a:solidFill>
                <a:latin typeface="DM Sans"/>
              </a:rPr>
              <a:t> Visual triggers notifying operators of sudden weather shifts or panel efficiency drops.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702718"/>
            <a:ext cx="3587799" cy="221456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174" y="2702718"/>
            <a:ext cx="3587799" cy="22145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702718"/>
            <a:ext cx="3587799" cy="22145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476250"/>
            <a:ext cx="117157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F172A"/>
                </a:solidFill>
                <a:latin typeface="Merriweather"/>
              </a:rPr>
              <a:t>Delivered Business &amp; Engineering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325" y="3436143"/>
            <a:ext cx="3307132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172A"/>
                </a:solidFill>
                <a:latin typeface="Merriweather"/>
              </a:rPr>
              <a:t>Grid Resilience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" y="3826668"/>
            <a:ext cx="314964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Provides early warning windows to spin up energy storage or backup reserves proactively before drops occur.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249" y="3436143"/>
            <a:ext cx="3307132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172A"/>
                </a:solidFill>
                <a:latin typeface="Merriweather"/>
              </a:rPr>
              <a:t>Cost 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1249" y="3826668"/>
            <a:ext cx="314964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Minimizes expensive peak-load fossil backup generation and optimizes plant maintenance loops.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7174" y="3436143"/>
            <a:ext cx="3307132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172A"/>
                </a:solidFill>
                <a:latin typeface="Merriweather"/>
              </a:rPr>
              <a:t>Carbon Efficiency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7174" y="3826668"/>
            <a:ext cx="314964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DM Sans"/>
              </a:rPr>
              <a:t>Maximizes clean energy integration into the transmission network, directly lowering overall emissions.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" y="2959893"/>
            <a:ext cx="3048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1249" y="2959893"/>
            <a:ext cx="3429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7174" y="2959893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838450"/>
            <a:ext cx="5429250" cy="19431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838450"/>
            <a:ext cx="5429250" cy="1943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476250"/>
            <a:ext cx="117157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3F0DF"/>
                </a:solidFill>
                <a:latin typeface="Merriweather"/>
              </a:rPr>
              <a:t>Project Implementation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325" y="3057525"/>
            <a:ext cx="5240655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3F0DF"/>
                </a:solidFill>
                <a:latin typeface="Merriweather"/>
              </a:rPr>
              <a:t>Phase 1: Hardware &amp;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325" y="3448050"/>
            <a:ext cx="499110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DM Sans"/>
              </a:rPr>
              <a:t>• Program ESP32 microcontroller.</a:t>
            </a:r>
            <a:r>
              <a:t>
</a:t>
            </a:r>
            <a:r>
              <a:rPr sz="1275" b="0" i="0" u="none">
                <a:solidFill>
                  <a:srgbClr val="CBD5E1"/>
                </a:solidFill>
                <a:latin typeface="DM Sans"/>
              </a:rPr>
              <a:t> • Wire pyranometer &amp; temperature sensors.</a:t>
            </a:r>
            <a:r>
              <a:t>
</a:t>
            </a:r>
            <a:r>
              <a:rPr sz="1275" b="0" i="0" u="none">
                <a:solidFill>
                  <a:srgbClr val="CBD5E1"/>
                </a:solidFill>
                <a:latin typeface="DM Sans"/>
              </a:rPr>
              <a:t> • Establish local MySQL database.</a:t>
            </a:r>
            <a:r>
              <a:t>
</a:t>
            </a:r>
            <a:r>
              <a:rPr sz="1275" b="0" i="0" u="none">
                <a:solidFill>
                  <a:srgbClr val="CBD5E1"/>
                </a:solidFill>
                <a:latin typeface="DM Sans"/>
              </a:rPr>
              <a:t> • Collect baseline training logs.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05575" y="3057525"/>
            <a:ext cx="5240655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3F0DF"/>
                </a:solidFill>
                <a:latin typeface="Merriweather"/>
              </a:rPr>
              <a:t>Phase 2: AI &amp;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5575" y="3448050"/>
            <a:ext cx="499110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DM Sans"/>
              </a:rPr>
              <a:t>• Train and tune LSTM network.</a:t>
            </a:r>
            <a:r>
              <a:t>
</a:t>
            </a:r>
            <a:r>
              <a:rPr sz="1275" b="0" i="0" u="none">
                <a:solidFill>
                  <a:srgbClr val="CBD5E1"/>
                </a:solidFill>
                <a:latin typeface="DM Sans"/>
              </a:rPr>
              <a:t> • Validate performance via RMSE/MAE.</a:t>
            </a:r>
            <a:r>
              <a:t>
</a:t>
            </a:r>
            <a:r>
              <a:rPr sz="1275" b="0" i="0" u="none">
                <a:solidFill>
                  <a:srgbClr val="CBD5E1"/>
                </a:solidFill>
                <a:latin typeface="DM Sans"/>
              </a:rPr>
              <a:t> • Automate pipeline integration.</a:t>
            </a:r>
            <a:r>
              <a:t>
</a:t>
            </a:r>
            <a:r>
              <a:rPr sz="1275" b="0" i="0" u="none">
                <a:solidFill>
                  <a:srgbClr val="CBD5E1"/>
                </a:solidFill>
                <a:latin typeface="DM Sans"/>
              </a:rPr>
              <a:t> • Deploy Power BI live control UI.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4ED8CAD98EBD43946B0A099711B503" ma:contentTypeVersion="5" ma:contentTypeDescription="Create a new document." ma:contentTypeScope="" ma:versionID="a785e983d57c47e0b65afdbbf6e7a789">
  <xsd:schema xmlns:xsd="http://www.w3.org/2001/XMLSchema" xmlns:xs="http://www.w3.org/2001/XMLSchema" xmlns:p="http://schemas.microsoft.com/office/2006/metadata/properties" xmlns:ns3="ce4e73c3-a532-4b59-a50a-6a30909abdf7" targetNamespace="http://schemas.microsoft.com/office/2006/metadata/properties" ma:root="true" ma:fieldsID="6fa3f26b4fb53172d0e11c7959b0a5cf" ns3:_="">
    <xsd:import namespace="ce4e73c3-a532-4b59-a50a-6a30909abdf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4e73c3-a532-4b59-a50a-6a30909abdf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e4e73c3-a532-4b59-a50a-6a30909abdf7" xsi:nil="true"/>
  </documentManagement>
</p:properties>
</file>

<file path=customXml/itemProps1.xml><?xml version="1.0" encoding="utf-8"?>
<ds:datastoreItem xmlns:ds="http://schemas.openxmlformats.org/officeDocument/2006/customXml" ds:itemID="{825CED20-F6D4-48C5-927E-264F262399C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A4EFB3-BDEB-4DA9-BE21-3B67B012CB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e4e73c3-a532-4b59-a50a-6a30909abd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DA6C23F-DD7E-461A-AC5D-C5357EDA915D}">
  <ds:schemaRefs>
    <ds:schemaRef ds:uri="http://purl.org/dc/terms/"/>
    <ds:schemaRef ds:uri="ce4e73c3-a532-4b59-a50a-6a30909abdf7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588</Words>
  <Application>Microsoft Office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DM Sans</vt:lpstr>
      <vt:lpstr>Merriweather</vt:lpstr>
      <vt:lpstr>Office Theme</vt:lpstr>
      <vt:lpstr>Team Members Aryan Sovit – 2411021240074 Yashwanth Chandawat - 2411021240005 Muhammed Faiz C K - 2411021240042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Aryan Sovit</dc:creator>
  <cp:keywords/>
  <dc:description>generated using python-pptx</dc:description>
  <cp:lastModifiedBy>ARYAN SOVIT</cp:lastModifiedBy>
  <cp:revision>4</cp:revision>
  <dcterms:created xsi:type="dcterms:W3CDTF">2013-01-27T09:14:16Z</dcterms:created>
  <dcterms:modified xsi:type="dcterms:W3CDTF">2026-09-02T07:45:29Z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0x010100CA4ED8CAD98EBD43946B0A099711B503</vt:lpwstr>
  </property>
</Properties>
</file>