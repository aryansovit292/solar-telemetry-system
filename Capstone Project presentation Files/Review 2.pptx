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885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user: a homeowner with rooftop solar. Frame the problem as everyday decisions: when can I run the pump, fans or washing machine on solar?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from the Python simulator through the Express API into MongoDB, feeds the LSTM, and is rendered live in the React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order: Consumer Mode recommendation first, then the live chart, then trigger cloud cover and watch the recommendation change. Briefly show Pro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 at three breakpoints if time allows.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cloud deployment is prepared, not yet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contribution for household solar users, then invite panel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84960"/>
            <a:ext cx="10566400" cy="446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84960"/>
            <a:ext cx="10566400" cy="446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REVIEW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278380"/>
            <a:ext cx="10883392" cy="125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Telemetry &amp; AI Energy Prediction 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71094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9FB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Micro-Climate Monitoring &amp; Machine Learning Forecasting for Household Solar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5289550"/>
            <a:ext cx="1056640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547116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576072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Mohammed Faiz CK  ·  Aryan Sovit  ·  Yashwanth Chandawat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35760"/>
            <a:ext cx="5156200" cy="2301240"/>
          </a:xfrm>
          <a:prstGeom prst="roundRect">
            <a:avLst>
              <a:gd name="adj" fmla="val 4415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635760"/>
            <a:ext cx="5156200" cy="2301240"/>
          </a:xfrm>
          <a:custGeom>
            <a:avLst/>
            <a:gdLst/>
            <a:ahLst/>
            <a:cxnLst/>
            <a:rect l="l" t="t" r="r" b="b"/>
            <a:pathLst>
              <a:path w="5156200" h="23012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54600" y="0"/>
                </a:lnTo>
                <a:arcTo wR="101600" hR="101600" stAng="16200000" swAng="5400000"/>
                <a:lnTo>
                  <a:pt x="51562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2042160"/>
            <a:ext cx="457835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8400" y="2443480"/>
            <a:ext cx="4578350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Rooftop solar output for households fluctuates with micro-climate changes such as passing clouds and panel heating, so homeowners cannot tell when it is best to run their appliances.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23000" y="1635760"/>
            <a:ext cx="5156200" cy="2301240"/>
          </a:xfrm>
          <a:prstGeom prst="roundRect">
            <a:avLst>
              <a:gd name="adj" fmla="val 4415"/>
            </a:avLst>
          </a:prstGeom>
          <a:solidFill>
            <a:srgbClr val="0F1B2D"/>
          </a:solidFill>
          <a:ln/>
        </p:spPr>
      </p:sp>
      <p:sp>
        <p:nvSpPr>
          <p:cNvPr id="8" name="Shape 6"/>
          <p:cNvSpPr/>
          <p:nvPr/>
        </p:nvSpPr>
        <p:spPr>
          <a:xfrm>
            <a:off x="6223000" y="1635760"/>
            <a:ext cx="5156200" cy="2301240"/>
          </a:xfrm>
          <a:custGeom>
            <a:avLst/>
            <a:gdLst/>
            <a:ahLst/>
            <a:cxnLst/>
            <a:rect l="l" t="t" r="r" b="b"/>
            <a:pathLst>
              <a:path w="5156200" h="23012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54600" y="0"/>
                </a:lnTo>
                <a:arcTo wR="101600" hR="101600" stAng="16200000" swAng="5400000"/>
                <a:lnTo>
                  <a:pt x="51562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6578600" y="2042160"/>
            <a:ext cx="457835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78600" y="2443480"/>
            <a:ext cx="4578350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home-focused telemetry dashboard that monitors real-time panel data, predicts energy output with an AI model, and turns it into simple guidance and savings for the household.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  ·  IoT Solar Telemetry &amp; AI Forecasting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35761"/>
            <a:ext cx="3386614" cy="2103120"/>
          </a:xfrm>
          <a:prstGeom prst="roundRect">
            <a:avLst>
              <a:gd name="adj" fmla="val 4831"/>
            </a:avLst>
          </a:prstGeom>
          <a:solidFill>
            <a:srgbClr val="17283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635761"/>
            <a:ext cx="3386614" cy="2103120"/>
          </a:xfrm>
          <a:custGeom>
            <a:avLst/>
            <a:gdLst/>
            <a:ahLst/>
            <a:cxnLst/>
            <a:rect l="l" t="t" r="r" b="b"/>
            <a:pathLst>
              <a:path w="3386614" h="210312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14" y="0"/>
                </a:lnTo>
                <a:arcTo wR="101600" hR="101600" stAng="16200000" swAng="5400000"/>
                <a:lnTo>
                  <a:pt x="338661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1991361"/>
            <a:ext cx="286032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7600" y="2367280"/>
            <a:ext cx="2860324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for live wave visualizers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02614" y="1635761"/>
            <a:ext cx="3386693" cy="2103120"/>
          </a:xfrm>
          <a:prstGeom prst="roundRect">
            <a:avLst>
              <a:gd name="adj" fmla="val 4831"/>
            </a:avLst>
          </a:prstGeom>
          <a:solidFill>
            <a:srgbClr val="17283F"/>
          </a:solidFill>
          <a:ln/>
        </p:spPr>
      </p:sp>
      <p:sp>
        <p:nvSpPr>
          <p:cNvPr id="8" name="Shape 6"/>
          <p:cNvSpPr/>
          <p:nvPr/>
        </p:nvSpPr>
        <p:spPr>
          <a:xfrm>
            <a:off x="4402614" y="1635761"/>
            <a:ext cx="3386693" cy="2103120"/>
          </a:xfrm>
          <a:custGeom>
            <a:avLst/>
            <a:gdLst/>
            <a:ahLst/>
            <a:cxnLst/>
            <a:rect l="l" t="t" r="r" b="b"/>
            <a:pathLst>
              <a:path w="3386693" h="210312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707414" y="1991361"/>
            <a:ext cx="2860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Telemetry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7414" y="2367280"/>
            <a:ext cx="286040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with Express API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(mock_telemetry.py) for live telemetry simulation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92507" y="1635761"/>
            <a:ext cx="3386693" cy="2103120"/>
          </a:xfrm>
          <a:prstGeom prst="roundRect">
            <a:avLst>
              <a:gd name="adj" fmla="val 4831"/>
            </a:avLst>
          </a:prstGeom>
          <a:solidFill>
            <a:srgbClr val="17283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92507" y="1635761"/>
            <a:ext cx="3386693" cy="2103120"/>
          </a:xfrm>
          <a:custGeom>
            <a:avLst/>
            <a:gdLst/>
            <a:ahLst/>
            <a:cxnLst/>
            <a:rect l="l" t="t" r="r" b="b"/>
            <a:pathLst>
              <a:path w="3386693" h="210312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8297307" y="1991361"/>
            <a:ext cx="2860406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&amp; AI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97307" y="2367280"/>
            <a:ext cx="286040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for telemetry logs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 neural network for solar power forecasting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  ·  IoT Solar Telemetry &amp; AI Forecasting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03677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UI Highlights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28041"/>
            <a:ext cx="3163600" cy="2580639"/>
          </a:xfrm>
          <a:prstGeom prst="roundRect">
            <a:avLst>
              <a:gd name="adj" fmla="val 3918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828041"/>
            <a:ext cx="3163600" cy="2580639"/>
          </a:xfrm>
          <a:custGeom>
            <a:avLst/>
            <a:gdLst/>
            <a:ahLst/>
            <a:cxnLst/>
            <a:rect l="l" t="t" r="r" b="b"/>
            <a:pathLst>
              <a:path w="3386614" h="2593340">
                <a:moveTo>
                  <a:pt x="101600" y="2593340"/>
                </a:moveTo>
                <a:lnTo>
                  <a:pt x="101600" y="259334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2491740"/>
                </a:lnTo>
                <a:arcTo wR="50800" hR="101600" stAng="10800000" swAng="-5400000"/>
                <a:close/>
              </a:path>
            </a:pathLst>
          </a:custGeom>
          <a:solidFill>
            <a:srgbClr val="1D7A70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1132841"/>
            <a:ext cx="2623089" cy="571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Mode for Homes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1783080"/>
            <a:ext cx="2623089" cy="1352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recommendations (e.g. "Fans &amp; Lights runnable now") and estimated daily savings. Pro Mode adds detailed technical readings.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1489" y="832656"/>
            <a:ext cx="3386693" cy="2593340"/>
          </a:xfrm>
          <a:prstGeom prst="roundRect">
            <a:avLst>
              <a:gd name="adj" fmla="val 3918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791489" y="832656"/>
            <a:ext cx="3386693" cy="2593340"/>
          </a:xfrm>
          <a:custGeom>
            <a:avLst/>
            <a:gdLst/>
            <a:ahLst/>
            <a:cxnLst/>
            <a:rect l="l" t="t" r="r" b="b"/>
            <a:pathLst>
              <a:path w="3386693" h="2593340">
                <a:moveTo>
                  <a:pt x="101600" y="2593340"/>
                </a:moveTo>
                <a:lnTo>
                  <a:pt x="101600" y="259334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2491740"/>
                </a:lnTo>
                <a:arcTo wR="50800" hR="101600" stAng="10800000" swAng="-5400000"/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147089" y="1137456"/>
            <a:ext cx="28080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Telemetry Stream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47089" y="1513375"/>
            <a:ext cx="280808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Dual-axis chart tracking Actual Power Output against Irradiance in real time.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63531" y="832656"/>
            <a:ext cx="3310689" cy="2576024"/>
          </a:xfrm>
          <a:prstGeom prst="roundRect">
            <a:avLst>
              <a:gd name="adj" fmla="val 3918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63531" y="832656"/>
            <a:ext cx="3310689" cy="2576024"/>
          </a:xfrm>
          <a:custGeom>
            <a:avLst/>
            <a:gdLst/>
            <a:ahLst/>
            <a:cxnLst/>
            <a:rect l="l" t="t" r="r" b="b"/>
            <a:pathLst>
              <a:path w="3386693" h="2593340">
                <a:moveTo>
                  <a:pt x="101600" y="2593340"/>
                </a:moveTo>
                <a:lnTo>
                  <a:pt x="101600" y="259334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1600" y="0"/>
                </a:lnTo>
                <a:arcTo wR="50800" hR="101600" stAng="16200000" swAng="-5400000"/>
                <a:lnTo>
                  <a:pt x="50800" y="2491740"/>
                </a:lnTo>
                <a:arcTo wR="50800" hR="101600" stAng="10800000" swAng="-5400000"/>
                <a:close/>
              </a:path>
            </a:pathLst>
          </a:cu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719131" y="1137456"/>
            <a:ext cx="2745063" cy="297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Simulation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19131" y="1513375"/>
            <a:ext cx="2745063" cy="10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to simulate cloud cover and panel overheating, showing how each affects what a household can run.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  ·  IoT Solar Telemetry &amp; AI Forecasting</a:t>
            </a:r>
            <a:endParaRPr lang="en-US" sz="12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F3BB37-0AB4-3127-DD3B-50A043293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91000"/>
            <a:ext cx="5544324" cy="7240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ECE36A-4AF5-6122-F931-CB9402DDA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182" y="3791000"/>
            <a:ext cx="1981477" cy="647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168988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Development &amp; Responsive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91502" y="756922"/>
            <a:ext cx="9292253" cy="860427"/>
          </a:xfrm>
          <a:prstGeom prst="roundRect">
            <a:avLst>
              <a:gd name="adj" fmla="val 10256"/>
            </a:avLst>
          </a:prstGeom>
          <a:solidFill>
            <a:srgbClr val="17283F"/>
          </a:solidFill>
          <a:ln/>
        </p:spPr>
      </p:sp>
      <p:sp>
        <p:nvSpPr>
          <p:cNvPr id="4" name="Text 2"/>
          <p:cNvSpPr/>
          <p:nvPr/>
        </p:nvSpPr>
        <p:spPr>
          <a:xfrm>
            <a:off x="868784" y="880359"/>
            <a:ext cx="491417" cy="43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41539" y="932974"/>
            <a:ext cx="8520917" cy="515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Refactored core CSS modules (App.css) for full mobile, tablet and desktop responsiveness, so homeowners can check it from a phone.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1501" y="1707518"/>
            <a:ext cx="9292253" cy="842008"/>
          </a:xfrm>
          <a:prstGeom prst="roundRect">
            <a:avLst>
              <a:gd name="adj" fmla="val 10638"/>
            </a:avLst>
          </a:prstGeom>
          <a:solidFill>
            <a:srgbClr val="17283F"/>
          </a:solidFill>
          <a:ln/>
        </p:spPr>
      </p:sp>
      <p:sp>
        <p:nvSpPr>
          <p:cNvPr id="7" name="Text 5"/>
          <p:cNvSpPr/>
          <p:nvPr/>
        </p:nvSpPr>
        <p:spPr>
          <a:xfrm>
            <a:off x="996301" y="1936118"/>
            <a:ext cx="478253" cy="46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74554" y="2037774"/>
            <a:ext cx="6405066" cy="257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chart container scaling keeps graphs visible on smaller viewports.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1502" y="2682558"/>
            <a:ext cx="9292252" cy="955040"/>
          </a:xfrm>
          <a:prstGeom prst="roundRect">
            <a:avLst>
              <a:gd name="adj" fmla="val 10638"/>
            </a:avLst>
          </a:prstGeom>
          <a:solidFill>
            <a:srgbClr val="17283F"/>
          </a:solidFill>
          <a:ln/>
        </p:spPr>
      </p:sp>
      <p:sp>
        <p:nvSpPr>
          <p:cNvPr id="10" name="Text 8"/>
          <p:cNvSpPr/>
          <p:nvPr/>
        </p:nvSpPr>
        <p:spPr>
          <a:xfrm>
            <a:off x="996302" y="2911158"/>
            <a:ext cx="55161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07502" y="3026729"/>
            <a:ext cx="578295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E8ED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 optimization and clean code architecture.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0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  ·  IoT Solar Telemetry &amp; AI Forecasting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CE45B6-0AAB-2704-25D4-6CBC273A8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01" y="3770630"/>
            <a:ext cx="5000172" cy="23070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FCD676-5D52-D594-DFCD-F3AD274D0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3760342"/>
            <a:ext cx="1256522" cy="23596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B32BAE6-5CEE-FED1-2FF0-030691D7A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621" y="3749100"/>
            <a:ext cx="1314686" cy="2370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Status &amp; Integration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35761"/>
            <a:ext cx="3386614" cy="2110740"/>
          </a:xfrm>
          <a:prstGeom prst="roundRect">
            <a:avLst>
              <a:gd name="adj" fmla="val 481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635761"/>
            <a:ext cx="3386614" cy="2110740"/>
          </a:xfrm>
          <a:custGeom>
            <a:avLst/>
            <a:gdLst/>
            <a:ahLst/>
            <a:cxnLst/>
            <a:rect l="l" t="t" r="r" b="b"/>
            <a:pathLst>
              <a:path w="3386614" h="21107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14" y="0"/>
                </a:lnTo>
                <a:arcTo wR="101600" hR="101600" stAng="16200000" swAng="5400000"/>
                <a:lnTo>
                  <a:pt x="338661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1D7A70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1991361"/>
            <a:ext cx="286032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7600" y="2324100"/>
            <a:ext cx="2860324" cy="543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Full-Stack Integration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7600" y="2943861"/>
            <a:ext cx="286032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Express and Python scripts running together.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14" y="1635761"/>
            <a:ext cx="3386693" cy="2110740"/>
          </a:xfrm>
          <a:prstGeom prst="roundRect">
            <a:avLst>
              <a:gd name="adj" fmla="val 481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14" y="1635761"/>
            <a:ext cx="3386693" cy="2110740"/>
          </a:xfrm>
          <a:custGeom>
            <a:avLst/>
            <a:gdLst/>
            <a:ahLst/>
            <a:cxnLst/>
            <a:rect l="l" t="t" r="r" b="b"/>
            <a:pathLst>
              <a:path w="3386693" h="21107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1D7A70"/>
          </a:solidFill>
          <a:ln/>
        </p:spPr>
      </p:sp>
      <p:sp>
        <p:nvSpPr>
          <p:cNvPr id="10" name="Text 8"/>
          <p:cNvSpPr/>
          <p:nvPr/>
        </p:nvSpPr>
        <p:spPr>
          <a:xfrm>
            <a:off x="4707414" y="1991361"/>
            <a:ext cx="286040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D7A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7414" y="2324100"/>
            <a:ext cx="286040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&amp; CI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7414" y="2684782"/>
            <a:ext cx="2860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 pipeline set up via the GitHub repository.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507" y="1635761"/>
            <a:ext cx="3386693" cy="2110740"/>
          </a:xfrm>
          <a:prstGeom prst="roundRect">
            <a:avLst>
              <a:gd name="adj" fmla="val 4813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507" y="1635761"/>
            <a:ext cx="3386693" cy="2110740"/>
          </a:xfrm>
          <a:custGeom>
            <a:avLst/>
            <a:gdLst/>
            <a:ahLst/>
            <a:cxnLst/>
            <a:rect l="l" t="t" r="r" b="b"/>
            <a:pathLst>
              <a:path w="3386693" h="211074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93" y="0"/>
                </a:lnTo>
                <a:arcTo wR="101600" hR="101600" stAng="16200000" swAng="5400000"/>
                <a:lnTo>
                  <a:pt x="338669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8297307" y="1991361"/>
            <a:ext cx="286040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7307" y="2324100"/>
            <a:ext cx="2860406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97307" y="2684782"/>
            <a:ext cx="28604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cloud setup prepared for deployment.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  ·  IoT Solar Telemetry &amp; AI Forecasting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A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A1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17600" y="1940561"/>
            <a:ext cx="4709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N" sz="1700" b="1" dirty="0">
                <a:solidFill>
                  <a:srgbClr val="F5A623"/>
                </a:solidFill>
              </a:rPr>
              <a:t>Automated Smart-Grid Load Shifting</a:t>
            </a:r>
            <a:endParaRPr lang="en-US" sz="1700" b="1" dirty="0">
              <a:solidFill>
                <a:srgbClr val="F5A623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502400" y="1940561"/>
            <a:ext cx="4709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Multi-Step LSTM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800" y="1491031"/>
            <a:ext cx="10883392" cy="3034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N" b="1" dirty="0">
                <a:solidFill>
                  <a:schemeClr val="bg2"/>
                </a:solidFill>
              </a:rPr>
              <a:t>To conclude, our project successfully delivers three core outcomes:</a:t>
            </a:r>
          </a:p>
          <a:p>
            <a:endParaRPr lang="en-IN" b="1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/>
                </a:solidFill>
              </a:rPr>
              <a:t>System Integration: A fully functional full-stack architecture combining live React visualizers, Node APIs, and Python telemetry scripts.</a:t>
            </a:r>
          </a:p>
          <a:p>
            <a:pPr lvl="0"/>
            <a:endParaRPr lang="en-IN" b="1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/>
                </a:solidFill>
              </a:rPr>
              <a:t>Consumer Value: Clear AI-driven guidance that directly helps households lower electricity bills and manage appliance usage.</a:t>
            </a:r>
          </a:p>
          <a:p>
            <a:pPr lvl="0"/>
            <a:endParaRPr lang="en-IN" b="1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2"/>
                </a:solidFill>
              </a:rPr>
              <a:t>Production Readiness: A mobile-responsive, deployment-ready dashboard with verified continuous integration pipelines.</a:t>
            </a:r>
          </a:p>
          <a:p>
            <a:endParaRPr lang="en-US" b="1" dirty="0">
              <a:solidFill>
                <a:schemeClr val="bg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A12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  ·  Thank you.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T Solar Telemetry &amp; AI Forecasting – Capstone">
  <a:themeElements>
    <a:clrScheme name="IoT Solar Telemetry &amp; AI Forecasting – Capstone">
      <a:dk1>
        <a:srgbClr val="0F1B2D"/>
      </a:dk1>
      <a:lt1>
        <a:srgbClr val="E8EDF4"/>
      </a:lt1>
      <a:dk2>
        <a:srgbClr val="253041"/>
      </a:dk2>
      <a:lt2>
        <a:srgbClr val="B2B9C2"/>
      </a:lt2>
      <a:accent1>
        <a:srgbClr val="F5A623"/>
      </a:accent1>
      <a:accent2>
        <a:srgbClr val="9FB0C6"/>
      </a:accent2>
      <a:accent3>
        <a:srgbClr val="1D7A70"/>
      </a:accent3>
      <a:accent4>
        <a:srgbClr val="A86A00"/>
      </a:accent4>
      <a:accent5>
        <a:srgbClr val="5B6676"/>
      </a:accent5>
      <a:accent6>
        <a:srgbClr val="1A1204"/>
      </a:accent6>
      <a:hlink>
        <a:srgbClr val="0563C1"/>
      </a:hlink>
      <a:folHlink>
        <a:srgbClr val="954F72"/>
      </a:folHlink>
    </a:clrScheme>
    <a:fontScheme name="IoT Solar Telemetry &amp; AI Forecasting – Capston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577</Words>
  <Application>Microsoft Office PowerPoint</Application>
  <PresentationFormat>Widescreen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IoT Solar Telemetry &amp; AI Forecasting – Capstone</vt:lpstr>
      <vt:lpstr>Solar Telemetry &amp; AI Energy Prediction System</vt:lpstr>
      <vt:lpstr>Project Overview &amp; Objectives</vt:lpstr>
      <vt:lpstr>System Architecture &amp; Stack</vt:lpstr>
      <vt:lpstr>Key Features &amp; UI Highlights</vt:lpstr>
      <vt:lpstr>Frontend Development &amp; Responsive Design</vt:lpstr>
      <vt:lpstr>Current Status &amp; Integration Workflow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Solar Telemetry &amp; AI Forecasting – Capstone</dc:title>
  <dc:subject/>
  <dc:creator/>
  <cp:lastModifiedBy>mohammedfaizck454@outlook.com</cp:lastModifiedBy>
  <cp:revision>4</cp:revision>
  <dcterms:created xsi:type="dcterms:W3CDTF">2026-10-24T04:56:26Z</dcterms:created>
  <dcterms:modified xsi:type="dcterms:W3CDTF">2026-10-24T05:42:57Z</dcterms:modified>
</cp:coreProperties>
</file>